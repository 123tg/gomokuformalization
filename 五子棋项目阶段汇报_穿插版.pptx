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这一版把 9 个和棋局面穿插进技术主线，而不是单独一章：先讲两种搜索语义，再讲双模式搜索器、两种证书协议与可信边界，然后用三页实战局面和验证链收尾；并在语义、证书、定理三处嵌入真实 Lean 代码对照。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目录按主题流动：语义、双模式、证书与边界、实战局面、不足与总结。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项目用 Lean 4 形式化固定规则的五子棋：7×7、五连即胜、黑先、无禁手。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为什么需要搜索器：博弈树太大，程序会犯错，所以分工：搜索器找候选，Lean 出定理。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这一页是穿插的关键：两种目标并排。目标 A 强制胜：我方回合 OR、对手回合 AND；目标 B 防守证明：防守方选一步、攻击方全应手覆盖，叶子只能是防守方胜或和棋。和棋局面就是目标 B 的产物。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代码对照一：CanPreventWin 的归纳定义。注意三个构造子：terminal 和 draw 是叶子，defenderMove 是防守方回合的存在量词，attackerMoves 是攻击方回合的全称量词——攻击方获胜的终局没有任何构造子，这正是“防守证明”的数学含义。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双模式架构：模式 A 是 DFPN + VCF 强制胜，模式 B 是 DefenseSearcher 完整 AND/OR 防守证明，状态严格区分 found、refuted、unknown。两条流水线都只出候选。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DFPN 用证明数 pn 与反证数 dn 优先展开最有希望的分支。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VCF 连续冲四快攻，攻不下来退回 DFPN。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威胁排序与强制防守剪枝只影响速度，不影响正确性。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资源控制：found 才出证书；refuted 是防守被攻破；unknown 是搜索被截断，绝不能写成和棋或必败。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两种证书协议：CompactCertificate 服务强制胜，DefenseCertificate 服务防守证明；DefenseCertificate 的终局叶子只接受防守方胜或和棋。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代码对照二：DefenseCertificate 的节点结构与检查器。检查器对攻击方节点要求allLegalMovesCovered——全部合法应手必须被覆盖，漏一个就整张被拒；终局叶子只接受防守方胜或和棋。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可信边界：左边全部不可信只出候选，右边 Lean 检查器逐节点重算，通过才得到 CanForceWin 或 CanPreventWin 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实战第一页：前三个和棋局面。每个局面每个长度 5 窗口都含黑白两子。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实战第二页：中间三个局面，都由 DefenseSearcher 生成两张防守证书。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实战第三页：最后三个局面。证书只是候选，Lean 检查通过才是定理。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代码对照三：Draw7x7.lean 里两张证书的检查用 native_decide 机器重算，standardDraw_of_mutualDefense 把两张防守证书组合成 StandardDraw 定理——这就是“搜索器只出数据，定理由 Lean 内核保证”的直接体现。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验证链：构造局面、C++ 找证书、Lean 重算、组合出 StandardDraw；五项断言 9/9 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汇总表：九个局面的两张证书全部通过检查，每个都证明了 StandardDraw。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不足一：空棋盘开局求解和空棋盘和棋都未完成，目前只有中盘局面。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不足二：参数没调优、缺基准数据、导出复检链路粗糙。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总结：已做规则、双模式搜索器、两种证书与 9 个中盘和棋；未做空棋盘目标。谢谢。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A33D"/>
                </a:solidFill>
                <a:latin typeface="微软雅黑"/>
                <a:ea typeface="微软雅黑"/>
              </a:rPr>
              <a:t>GOMOKU FORMALIZATION · PROJECT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五子棋形式化项目 · 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FD8E8"/>
                </a:solidFill>
                <a:latin typeface="微软雅黑"/>
                <a:ea typeface="微软雅黑"/>
              </a:rPr>
              <a:t>双模式搜索器 · 两种证书 · 9 个中盘和棋局面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CE94"/>
                </a:solidFill>
                <a:latin typeface="微软雅黑"/>
                <a:ea typeface="微软雅黑"/>
              </a:rPr>
              <a:t>不可信搜索器找候选  ·  Lean 检查器出定理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8E9BB8"/>
                </a:solidFill>
                <a:latin typeface="微软雅黑"/>
                <a:ea typeface="微软雅黑"/>
              </a:rPr>
              <a:t>Lean 4 · C++17 DFPN/VCF/DefenseSearcher · CompactCertificate / DefenseCertificate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Threaded 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207008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298448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项目与搜索语义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73736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两种目标：强制胜 与 防守证明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2860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377440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双模式搜索器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DFPN/VCF 与 DefenseSearcher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364991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56432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证书与可信边界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95344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两种证书协议 · Lean 检查器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443984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35424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实战：9 个中盘和棋局面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974336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搜索器产出 → 实例 → 验证链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522976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614416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不足与总结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05332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空棋盘目标与工程缺口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项目是什么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棋盘 7 ×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五连即胜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黑棋先手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无禁手 · 长连也算胜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微软雅黑"/>
                <a:ea typeface="微软雅黑"/>
              </a:rPr>
              <a:t>项目做的三件事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形式化规则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 Lean 4 定义棋盘、走法与胜负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双模式搜索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强制胜搜索 + 防守证明搜索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验证结论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一切结论都要经过 Lean 检查器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为什么需要搜索器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① 博弈树太大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49 个点，手工推演不可能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② 程序会犯错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搜索结论不能直接当定理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③ 于是分工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搜索器“找候选”，Lean“出定理”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搜索器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找候选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证书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候选数据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9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Lean 检查器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出定理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搜索语义：两种目标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Force-Win vs Defense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A · 强制胜 CanForceWin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我方回合 = OR：找到一个能赢的着法即可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对手回合 = AND：每个合法应手都要有胜子树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真实胜局，由检查器重算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和棋 / 输棋 / 搜索耗尽 ≠ 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产出：CompactCertificate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B · 防守证明 CanPreventWin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防守方回合：选一个保持防守的着法即可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967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攻击方回合：覆盖全部合法应手，漏一个即拒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967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防守方胜 或 和棋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967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攻击方胜的终局没有任何闭合路径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967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产出：DefenseCertificate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两种语义都只生成候选数据：搜索器可以犯错，检查器不放错。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①：防守语义 CanPreventWin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Gomoku/Defense.lean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目标 B 在 Lean 中的归纳定义：攻击方获胜的终局没有任何闭合路径。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11055096" cy="3977639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def CanPreventWin — 语义与 slide 5 右栏一一对应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57400"/>
            <a:ext cx="10597896" cy="34107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7DC4FF"/>
                </a:solidFill>
                <a:latin typeface="Consolas"/>
                <a:ea typeface="微软雅黑"/>
              </a:rPr>
              <a:t>inductive CanPreventWin (defender : Player) : Position → Prop where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terminal {s : Position} (h : terminal s = some (winner defender))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draw {s : Position} (h : terminal s = some .draw)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defenderMove {s : Position} (hterm : terminal s = none)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(hturn : s.turn = defender) (m : Coord) (hm : legalMove s m)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(hchild : CanPreventWin defender (play s m)) : CanPreventWin defender s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| attackerMoves {s : Position} (hterm : terminal s = none)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(hturn : s.turn = Player.other defender)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(children : ∀ m, legalMove s m → CanPreventWin defender (play s m)) :</a:t>
            </a:r>
          </a:p>
          <a:p>
            <a:r>
              <a:rPr sz="1250" b="0">
                <a:solidFill>
                  <a:srgbClr val="E8ECF4"/>
                </a:solidFill>
                <a:latin typeface="Consolas"/>
                <a:ea typeface="微软雅黑"/>
              </a:rPr>
              <a:t>      CanPreventWin defender s</a:t>
            </a:r>
          </a:p>
          <a:p>
            <a:r>
              <a:rPr sz="1250" b="0" i="1">
                <a:solidFill>
                  <a:srgbClr val="8A99B4"/>
                </a:solidFill>
                <a:latin typeface="Consolas"/>
                <a:ea typeface="微软雅黑"/>
              </a:rPr>
              <a:t>-- 终局为和棋或防守方获胜时闭合；防守方回合为存在量词，攻击方回合为全称量词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terminal / draw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叶子：防守方胜 或 和棋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B5998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防守方回合：只需一个合法着法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1" y="5806440"/>
            <a:ext cx="3593592" cy="50292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1" y="5852160"/>
            <a:ext cx="1783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D97B29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5832" y="5852160"/>
            <a:ext cx="1600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2B2B2B"/>
                </a:solidFill>
                <a:latin typeface="微软雅黑"/>
                <a:ea typeface="微软雅黑"/>
              </a:rPr>
              <a:t>攻击方回合：∀ m 覆盖全部合法应手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搜索器整体架构：双模式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Architecture · C++17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A · 强制胜搜索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7×7 + 轮到谁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DFPN 主搜索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证明数优先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01184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85232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VCF 快攻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连续冲四检测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60336" y="22860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644383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CompactCertificate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19488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03536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175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B · 防守证明  （--prove prevent-black-win | prevent-white-win）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--input / --root empty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2032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DefenseSearcher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完整 AND/OR 搜索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1184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85232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严格传播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found / refuted / unknown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0336" y="41148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44383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DefenseCertificate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19488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03536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置换表 / Zobrist 局面键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迭代加深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资源上限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53144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证书预检（仅诊断）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715000"/>
            <a:ext cx="11055096" cy="50292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两条流水线都只产生“候选数据”：最终由 Lean 检查器验证。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①：DFPN 证明数搜索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DFPN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证明数 pn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证明必胜还需展开的节点数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pn 越小 → 越接近证明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反证数 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证明必败还需展开的节点数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dn 越小 → 分支越该放弃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选择策略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优先展开 pn / dn 最小的节点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9911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深度优先，内存友好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9911" y="406908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400507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输出证明路径 → 便于生成证书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把预算花在“最可能证明成功”的分支上；阈值可调：maxDepth / maxNodes / maxVcfDepth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②：VCF 连续冲四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VCF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冲四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67128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79192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91456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再冲四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91656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20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15984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成五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6B7480"/>
                </a:solidFill>
                <a:latin typeface="微软雅黑"/>
                <a:ea typeface="微软雅黑"/>
              </a:rPr>
              <a:t>冲四：再下一子即成五连，对手必须立刻防守 —— 连续冲四直到成五，就是一条杀棋路线。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为什么有用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攻击端：快速找到杀棋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防守端：应手骤减，搜索变小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结果仍要交给检查器复检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工程要点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624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独立预算：maxVcfDepth / maxVcfNodes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与 DFPN 配合：先试快攻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攻不下来再回到全局面搜索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加速技巧：让搜索更快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威胁排序 Threat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按威胁从高到低先搜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成五 &gt; 活四 &gt; 冲四 &gt; 活三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更快找到杀棋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Lean 已证明留下的着法合法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强制防守剪枝 Forced-Move Pruning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624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对手被逼时合法应手很少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只展开必要应手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624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大幅缩小 AND 分支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配置：useForcedMovePruning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两者只影响“找候选”的速度，不改变可信边界 —— 结果依旧要过 Lean 检查器。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资源控制：搜不到 ≠ 必败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Honest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深度上限 maxDepth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节点预算 maxNodes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置换表上限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证书节点上限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286000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找到候选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交给 Lean 检查器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2724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refuted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127248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防守被攻破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27248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无证书（证明不存在防守）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unknown / 资源耗尽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68496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搜索被截断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68496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 · 不做结论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206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有限搜索失败只表示“本次没找到证据”，绝不是和棋或必败证明；提交时须如实报告状态。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输出协议：两种证书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Output ·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A · CompactCertificate（强制胜）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胜利叶子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局面真实获胜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检查器重算胜负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不信任任何标签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73736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proverMove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目标方回合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选一个合法着法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46904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子局面 = play s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173736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4192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opponentMoves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48672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对手回合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1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9911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列出全部合法应手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39911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3376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每个应手一个子节点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9911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23376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9476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B · DefenseCertificate（防守证明）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34340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95728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终局叶子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结果为防守方胜或和棋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0432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攻击方胜的叶子被拒绝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434340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防守方回合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43400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46904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选一个保持防守的着法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46904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19871" y="434340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94192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攻击方回合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19871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39911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23376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覆盖全部合法应手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39911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23376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6035040"/>
            <a:ext cx="11055096" cy="36576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C98A2D"/>
                </a:solidFill>
                <a:latin typeface="微软雅黑"/>
                <a:ea typeface="微软雅黑"/>
              </a:rPr>
              <a:t>编号规则：数组下标即编号，parent &lt; child；两种证书都推荐先序布局。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②：证书数据结构与检查器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Gomoku/Defense.lean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可序列化的扁平证书节点 + 逐节点布尔检查器 —— 检查器不信任搜索器，对每个节点重新计算。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11055096" cy="28346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DefenseCertificate — 模式 B 的证书格式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11680"/>
            <a:ext cx="10597896" cy="22677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inductive DefenseCertificateNode where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terminal (position : Position) (outcome : Outcome)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defenderMove (position : Position) (move : Coord) (child : Nat)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| attackerMoves (position : Position) (children : Array (Coord × Nat))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structure DefenseCertificate where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defender : Player   -- 防守方：white 或 black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root : Nat          -- 根节点下标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nodes : Array DefenseCertificateNode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26280"/>
            <a:ext cx="11055096" cy="178308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checkDefenseNode — 攻击方全应手覆盖是硬约束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983480"/>
            <a:ext cx="10597896" cy="1216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7DC4FF"/>
                </a:solidFill>
                <a:latin typeface="Consolas"/>
                <a:ea typeface="微软雅黑"/>
              </a:rPr>
              <a:t>def checkDefenseNode (defender : Player) (size : Nat) : DefenseCertificateNode → Bool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| .terminal s out =&gt;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decide (terminal s = some out)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(decide (out = winner defender) || decide (out = .draw))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| .attackerMoves s children =&gt;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decide (terminal s = none) &amp;&amp; decide (s.turn = Player.other defender)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allRefsValid size children &amp;&amp; allMovesLegal s children &amp;&amp;</a:t>
            </a:r>
          </a:p>
          <a:p>
            <a:r>
              <a:rPr sz="1150" b="0">
                <a:solidFill>
                  <a:srgbClr val="E8ECF4"/>
                </a:solidFill>
                <a:latin typeface="Consolas"/>
                <a:ea typeface="微软雅黑"/>
              </a:rPr>
              <a:t>        allLegalMovesCovered s children &amp;&amp; movesDistinct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设计核心：可信边界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不可信：搜索器输出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60320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搜索器（DFPN / VCF / DefenseSearcher）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82112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启发式与剪枝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803904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置换表与各种缓存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425696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预检（仅诊断）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4616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7D4F"/>
                </a:solidFill>
                <a:latin typeface="微软雅黑"/>
                <a:ea typeface="微软雅黑"/>
              </a:rPr>
              <a:t>可信：Lean 检查器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560320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checkCertificate / checkDefenseCertificateAt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182112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重算终局胜负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3803904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验证合法性与子局面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4425696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4656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攻击方全应手覆盖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76088" y="3383280"/>
            <a:ext cx="1636776" cy="0"/>
          </a:xfrm>
          <a:prstGeom prst="line">
            <a:avLst/>
          </a:prstGeom>
          <a:ln w="3302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93792" y="2651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B7480"/>
                </a:solidFill>
                <a:latin typeface="微软雅黑"/>
                <a:ea typeface="微软雅黑"/>
              </a:rPr>
              <a:t>重新检查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3402F"/>
                </a:solidFill>
                <a:latin typeface="微软雅黑"/>
                <a:ea typeface="微软雅黑"/>
              </a:rPr>
              <a:t>→ 只生成候选，可以出错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892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4F"/>
                </a:solidFill>
                <a:latin typeface="微软雅黑"/>
                <a:ea typeface="微软雅黑"/>
              </a:rPr>
              <a:t>→ 通过 → CanForceWin / CanPreventWin 定理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321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搜索器可以犯错，检查器不放错；通过检查的证书才是定理。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9 个机器验证的局面 · 21 黑 + 21 白 · 7 空格 · 轮到黑方。每个长度 5 窗口都含黑白两子，任何一方都无法成五。</a:t>
            </a:r>
          </a:p>
        </p:txBody>
      </p:sp>
      <p:pic>
        <p:nvPicPr>
          <p:cNvPr id="7" name="Picture 6" descr="Draw7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Draw7x7.lean · seed 1</a:t>
            </a:r>
          </a:p>
        </p:txBody>
      </p:sp>
      <p:pic>
        <p:nvPicPr>
          <p:cNvPr id="10" name="Picture 9" descr="Draw7x7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Draw7x7s2.lean · seed 2</a:t>
            </a:r>
          </a:p>
        </p:txBody>
      </p:sp>
      <p:pic>
        <p:nvPicPr>
          <p:cNvPr id="13" name="Picture 12" descr="Draw7x7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Draw7x7s3.lean · seed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每个局面都由 DefenseSearcher 独立生成白防黑 + 黑防白两张防守证书。</a:t>
            </a:r>
          </a:p>
        </p:txBody>
      </p:sp>
      <p:pic>
        <p:nvPicPr>
          <p:cNvPr id="7" name="Picture 6" descr="Draw7x7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Draw7x7s4.lean · seed 4</a:t>
            </a:r>
          </a:p>
        </p:txBody>
      </p:sp>
      <p:pic>
        <p:nvPicPr>
          <p:cNvPr id="10" name="Picture 9" descr="Draw7x7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Draw7x7s5.lean · seed 5</a:t>
            </a:r>
          </a:p>
        </p:txBody>
      </p:sp>
      <p:pic>
        <p:nvPicPr>
          <p:cNvPr id="13" name="Picture 12" descr="Draw7x7s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Draw7x7s6.lean · seed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14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证书只是候选：Lean 检查器逐节点重算通过后，才能组合出 StandardDraw 定理。</a:t>
            </a:r>
          </a:p>
        </p:txBody>
      </p:sp>
      <p:pic>
        <p:nvPicPr>
          <p:cNvPr id="7" name="Picture 6" descr="Draw7x7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Draw7x7s7.lean · seed 7</a:t>
            </a:r>
          </a:p>
        </p:txBody>
      </p:sp>
      <p:pic>
        <p:nvPicPr>
          <p:cNvPr id="10" name="Picture 9" descr="Draw7x7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Draw7x7s8.lean · seed 8</a:t>
            </a:r>
          </a:p>
        </p:txBody>
      </p:sp>
      <p:pic>
        <p:nvPicPr>
          <p:cNvPr id="13" name="Picture 12" descr="Draw7x7s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Draw7x7s9.lean · seed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15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代码对照 ③：从证书到 StandardDraw 定理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Gomoku/Generated/Draw7x7.lean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C++ 生成的 Lean 文件：检查器验证两张证书，soundness 定理组合出和棋。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11055096" cy="23774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两张证书的检查（Gomoku/Generated/Draw7x7.lean）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11680"/>
            <a:ext cx="10597896" cy="18105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draw7x7WhiteChecked :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checkDefenseCertificateAt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    draw7x7WhiteDefenseCertificate = true := by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native_decide   -- 机器重算：白防黑证书逐节点通过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draw7x7BlackChecked :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checkDefenseCertificateAt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      draw7x7BlackDefenseCertificate = true := by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native_decide   -- 机器重算：黑防白证书逐节点通过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69080"/>
            <a:ext cx="11055096" cy="2148840"/>
          </a:xfrm>
          <a:prstGeom prst="roundRect">
            <a:avLst>
              <a:gd name="adj" fmla="val 4000"/>
            </a:avLst>
          </a:prstGeom>
          <a:solidFill>
            <a:srgbClr val="141A2B"/>
          </a:solidFill>
          <a:ln w="12700">
            <a:solidFill>
              <a:srgbClr val="3B59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4069080"/>
            <a:ext cx="11055096" cy="36576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组合定理（依赖 Defense.lean 的 soundness）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526280"/>
            <a:ext cx="10597896" cy="1581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C4FF"/>
                </a:solidFill>
                <a:latin typeface="Consolas"/>
                <a:ea typeface="微软雅黑"/>
              </a:rPr>
              <a:t>theorem draw7x7StandardDraw : StandardDraw draw7x7RootPosition :=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>  standardDraw_of_mutualDefense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  draw7x7WhitePrevents   -- WhiteCanPreventBlackWin draw7x7RootPosition</a:t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    draw7x7BlackPrevents   -- BlackCanPreventWhiteWin draw7x7RootPosition</a:t>
            </a:r>
          </a:p>
          <a:p>
            <a:r>
              <a:rPr sz="1200" b="0">
                <a:solidFill>
                  <a:srgbClr val="E8ECF4"/>
                </a:solidFill>
                <a:latin typeface="Consolas"/>
                <a:ea typeface="微软雅黑"/>
              </a:rPr>
              <a:t/>
            </a:r>
          </a:p>
          <a:p>
            <a:r>
              <a:rPr sz="1200" b="0" i="1">
                <a:solidFill>
                  <a:srgbClr val="8A99B4"/>
                </a:solidFill>
                <a:latin typeface="Consolas"/>
                <a:ea typeface="微软雅黑"/>
              </a:rPr>
              <a:t>-- 信任边界：搜索器只提供证书数据；定理由 Lean 内核 + soundness 证明保证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6355080"/>
            <a:ext cx="11055096" cy="384048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C98A2D"/>
                </a:solidFill>
                <a:latin typeface="微软雅黑"/>
                <a:ea typeface="微软雅黑"/>
              </a:rPr>
              <a:t>检查器重算 + soundness 定理 = 不信任搜索器也能得到真定理。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验证链：从证书到 StandardDraw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构造局面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每个长度 5 窗口都含黑白两子
→ 任何一方永远无法成五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2968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C++ 找证书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白防黑 + 黑防白 两张防守证书
(搜索器不可信, 只出候选)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65392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Lean 重算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checkDefenseCertificateAt
逐节点重算局面/轮次/终局/应手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71432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64624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组合出定理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两张证书 + soundness
⇒ StandardDraw 局面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微软雅黑"/>
                <a:ea typeface="微软雅黑"/>
              </a:rPr>
              <a:t>每个局面独立验证 4 项断言 (全部 native_decide, 不依赖 C++ 结果):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233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白防黑证书 checkDefenseCertificateAt =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0233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黑防白证书 checkDefenseCertificateAt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4805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377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局面形状: 21黑 + 21白 + 7空 + 轮到黑方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9377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60 个长度 5 窗口全部双色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53949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521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StandardDraw &lt;position&gt; 由两张证书组合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58521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搜索器可以犯错, 检查器不放错; 通过检查的证书才是定理。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全部 9 个局面: 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Lean 定理文件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种子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白防证书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黑防证书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StandardDraw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窗口双色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Draw7x7.lean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Draw7x7s2.lean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Draw7x7s3.lean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Draw7x7s4.lean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Draw7x7s5.lean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Draw7x7s6.lean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Draw7x7s7.lean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Draw7x7s8.lean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Draw7x7s9.lean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80644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9 / 9 全部通过: 每张证书经 Lean 检查器重算, 每个局面都证明了 StandardDraw。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17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①：功能缺口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空棋盘开局求解 · 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没有从 7×7 空棋盘开始的必胜证书，不能宣称 initial_black_wins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空棋盘和棋 · 未完成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中盘 9 局面的和棋已验证；空棋盘 StandardDraw 仍是开放目标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缓存 · 未接入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SearchMemo / EngineMemo 已定义，但还没有接入引擎默认搜索流程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性能 · 未验证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目前只有一步胜、双应手、开四 VCF 与中盘和棋等示例，规模没有跑起来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这些缺口意味着：项目目前给不出“空棋盘黑棋先手必胜”或“空棋盘和棋”的结论。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18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②：工程与验证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参数没有系统调优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maxDepth / maxVcfDepth / maxNodes 用的是保守默认值，没做过参数扫描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缺少基准数据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证书大小、Lean 检查耗时、缓存命中率都没有系统记录和对比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导出→复检链路粗糙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C++ 导出 Lean 源码后要手工跑检查，自动化程度不高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投入偏重正确性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时间主要花在规则与检查器上，搜索规模与性能投入不足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一句话：框架完整、正确性优先，但离完整 7×7 求解还有明显距离。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3063240"/>
            <a:ext cx="91440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2CE94"/>
                </a:solidFill>
                <a:latin typeface="微软雅黑"/>
                <a:ea typeface="微软雅黑"/>
              </a:rPr>
              <a:t>搜索器负责“找”，Lean 负责“证”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已做：规则 · 双模式搜索器 · 两种证书 · 9 个中盘和棋局面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未做：空棋盘开局求解 · 空棋盘和棋 · 大规模验证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五子棋形式化项目阶段汇报（穿插版）</dc:title>
  <dc:subject/>
  <dc:creator>Gomoku Formalization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