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这一版把 9 个和棋局面穿插进技术主线，而不是单独一章：先讲两种搜索语义，再讲双模式搜索器、两种证书协议与可信边界，然后用三页实战局面和验证链收尾；并在语义、证书、定理三处嵌入真实 Lean 代码对照。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目录按主题流动：语义、双模式、证书与边界、实战局面、不足与总结。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项目用 Lean 4 形式化固定规则的五子棋：7×7、五连即胜、黑先、无禁手。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为什么需要搜索器：博弈树太大，程序会犯错，所以分工：搜索器找候选，Lean 出定理。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这一页是穿插的关键：两种目标并排。目标 A 强制胜：我方回合 OR、对手回合 AND；目标 B 防守证明：防守方选一步、攻击方全应手覆盖，叶子只能是防守方胜或和棋。和棋局面就是目标 B 的产物。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代码对照一：CanPreventWin 的归纳定义。注意三个构造子：terminal 和 draw 是叶子，defenderMove 是防守方回合的存在量词，attackerMoves 是攻击方回合的全称量词——攻击方获胜的终局没有任何构造子，这正是“防守证明”的数学含义。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双模式架构：模式 A 是 DFPN + VCF 强制胜，模式 B 是 DefenseSearcher 完整 AND/OR 防守证明，状态严格区分 found、refuted、unknown。两条流水线都只出候选。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DFPN 用证明数 pn 与反证数 dn 优先展开最有希望的分支。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VCF 连续冲四快攻，攻不下来退回 DFPN。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威胁排序与强制防守剪枝只影响速度，不影响正确性。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资源控制：found 才出证书；refuted 是防守被攻破；unknown 是搜索被截断，绝不能写成和棋或必败。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两种证书协议：CompactCertificate 服务强制胜，DefenseCertificate 服务防守证明；DefenseCertificate 的终局叶子只接受防守方胜或和棋。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代码对照二：DefenseCertificate 的节点结构与检查器。检查器对攻击方节点要求allLegalMovesCovered——全部合法应手必须被覆盖，漏一个就整张被拒；终局叶子只接受防守方胜或和棋。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可信边界：左边全部不可信只出候选，右边 Lean 检查器逐节点重算，通过才得到 CanForceWin 或 CanPreventWin 定理。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实战第一页：前三个和棋局面。每个局面每个长度 5 窗口都含黑白两子。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实战第二页：中间三个局面，都由 DefenseSearcher 生成两张防守证书。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实战第三页：最后三个局面，每局都有白防黑、黑防白两张防守证书。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代码对照三：Draw7x7.lean 里两张防守证书分别给出 WhiteCanPreventBlackWin 和 BlackCanPreventWhiteWin，standardDraw_of_mutualDefense 把它们组合成 StandardDraw 定理——和棋结论来自两张证书的组合。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验证链：构造局面、C++ 找证书、Lean 重算、组合出 StandardDraw；五项断言 9/9 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汇总表：九个局面的两张证书全部通过检查，每个都证明了 StandardDraw。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不足一：空棋盘开局求解未完成；空棋盘和棋其实只差一环——黑防白已用策略偷取证明，还缺白防黑，补上即可组合出空棋盘 StandardDraw。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不足二：参数没调优、缺基准数据、导出复检链路粗糙。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总结：已做规则、双模式搜索器、两种证书与 9 个中盘和棋；未做空棋盘目标。谢谢。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005840"/>
            <a:ext cx="105156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E8A33D"/>
                </a:solidFill>
                <a:latin typeface="微软雅黑"/>
                <a:ea typeface="微软雅黑"/>
              </a:rPr>
              <a:t>GOMOKU FORMALIZATION · PROJECT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微软雅黑"/>
                <a:ea typeface="微软雅黑"/>
              </a:rPr>
              <a:t>五子棋形式化项目 · 阶段汇报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CFD8E8"/>
                </a:solidFill>
                <a:latin typeface="微软雅黑"/>
                <a:ea typeface="微软雅黑"/>
              </a:rPr>
              <a:t>双模式搜索器 · 两种证书 · 9 个中盘和棋局面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3794760"/>
            <a:ext cx="2377440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F2CE94"/>
                </a:solidFill>
                <a:latin typeface="微软雅黑"/>
                <a:ea typeface="微软雅黑"/>
              </a:rPr>
              <a:t>不可信搜索器找候选  ·  Lean 检查器出定理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607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E9BB8"/>
                </a:solidFill>
                <a:latin typeface="微软雅黑"/>
                <a:ea typeface="微软雅黑"/>
              </a:rPr>
              <a:t>Lean 4 · C++17 DFPN/VCF/DefenseSearcher · CompactCertificate / DefenseCertificate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Threaded Contents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51560" y="1207008"/>
            <a:ext cx="10058400" cy="914400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1560" y="1207008"/>
            <a:ext cx="1078992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207008"/>
            <a:ext cx="10789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8A33D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1298448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微软雅黑"/>
                <a:ea typeface="微软雅黑"/>
              </a:rPr>
              <a:t>项目与搜索语义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737360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480"/>
                </a:solidFill>
                <a:latin typeface="微软雅黑"/>
                <a:ea typeface="微软雅黑"/>
              </a:rPr>
              <a:t>两种目标：强制胜 与 防守证明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" y="2286000"/>
            <a:ext cx="10058400" cy="914400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51560" y="2286000"/>
            <a:ext cx="1078992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286000"/>
            <a:ext cx="10789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8A33D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377440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微软雅黑"/>
                <a:ea typeface="微软雅黑"/>
              </a:rPr>
              <a:t>双模式搜索器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2816352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480"/>
                </a:solidFill>
                <a:latin typeface="微软雅黑"/>
                <a:ea typeface="微软雅黑"/>
              </a:rPr>
              <a:t>DFPN/VCF 与 DefenseSearcher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1560" y="3364991"/>
            <a:ext cx="10058400" cy="914400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51560" y="3364991"/>
            <a:ext cx="1078992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364991"/>
            <a:ext cx="10789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8A33D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68880" y="3456432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微软雅黑"/>
                <a:ea typeface="微软雅黑"/>
              </a:rPr>
              <a:t>证书与可信边界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3895344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480"/>
                </a:solidFill>
                <a:latin typeface="微软雅黑"/>
                <a:ea typeface="微软雅黑"/>
              </a:rPr>
              <a:t>两种证书协议 · Lean 检查器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51560" y="4443984"/>
            <a:ext cx="10058400" cy="914400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51560" y="4443984"/>
            <a:ext cx="1078992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443984"/>
            <a:ext cx="10789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8A33D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68880" y="4535424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微软雅黑"/>
                <a:ea typeface="微软雅黑"/>
              </a:rPr>
              <a:t>实战：9 个中盘和棋局面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68880" y="4974336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480"/>
                </a:solidFill>
                <a:latin typeface="微软雅黑"/>
                <a:ea typeface="微软雅黑"/>
              </a:rPr>
              <a:t>搜索器产出 → 实例 → 验证链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51560" y="5522976"/>
            <a:ext cx="10058400" cy="914400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51560" y="5522976"/>
            <a:ext cx="1078992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5522976"/>
            <a:ext cx="1078992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800" b="1">
                <a:solidFill>
                  <a:srgbClr val="E8A33D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68880" y="5614416"/>
            <a:ext cx="8412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1B2A4A"/>
                </a:solidFill>
                <a:latin typeface="微软雅黑"/>
                <a:ea typeface="微软雅黑"/>
              </a:rPr>
              <a:t>不足与总结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68880" y="6053328"/>
            <a:ext cx="8412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480"/>
                </a:solidFill>
                <a:latin typeface="微软雅黑"/>
                <a:ea typeface="微软雅黑"/>
              </a:rPr>
              <a:t>空棋盘目标与工程缺口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2 /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项目是什么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25880"/>
            <a:ext cx="2679192" cy="65836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棋盘 7 ×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25880"/>
            <a:ext cx="2679192" cy="65836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五连即胜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325880"/>
            <a:ext cx="2679192" cy="65836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黑棋先手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53144" y="1325880"/>
            <a:ext cx="2679192" cy="658368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</a:rPr>
              <a:t>无禁手 · 长连也算胜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331720"/>
            <a:ext cx="10972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1B2A4A"/>
                </a:solidFill>
                <a:latin typeface="微软雅黑"/>
                <a:ea typeface="微软雅黑"/>
              </a:rPr>
              <a:t>项目做的三件事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971800"/>
            <a:ext cx="3593592" cy="237744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971800"/>
            <a:ext cx="3593592" cy="658368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971800"/>
            <a:ext cx="35935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形式化规则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93192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0">
                <a:solidFill>
                  <a:srgbClr val="2B2B2B"/>
                </a:solidFill>
                <a:latin typeface="微软雅黑"/>
                <a:ea typeface="微软雅黑"/>
              </a:rPr>
              <a:t>用 Lean 4 定义棋盘、走法与胜负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971800"/>
            <a:ext cx="3593592" cy="237744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43400" y="2971800"/>
            <a:ext cx="3593592" cy="658368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971800"/>
            <a:ext cx="35935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双模式搜索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93192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0">
                <a:solidFill>
                  <a:srgbClr val="2B2B2B"/>
                </a:solidFill>
                <a:latin typeface="微软雅黑"/>
                <a:ea typeface="微软雅黑"/>
              </a:rPr>
              <a:t>强制胜搜索 + 防守证明搜索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9871" y="2971800"/>
            <a:ext cx="3593592" cy="237744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19871" y="2971800"/>
            <a:ext cx="3593592" cy="658368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1" y="2971800"/>
            <a:ext cx="3593592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验证结论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85632" y="3931920"/>
            <a:ext cx="292608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650" b="0">
                <a:solidFill>
                  <a:srgbClr val="2B2B2B"/>
                </a:solidFill>
                <a:latin typeface="微软雅黑"/>
                <a:ea typeface="微软雅黑"/>
              </a:rPr>
              <a:t>一切结论都要经过 Lean 检查器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3 / 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为什么需要搜索器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Motivation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3593592" cy="260604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659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① 博弈树太大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6974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49 个点，手工推演不可能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554480"/>
            <a:ext cx="3593592" cy="2606040"/>
          </a:xfrm>
          <a:prstGeom prst="roundRect">
            <a:avLst>
              <a:gd name="adj" fmla="val 8000"/>
            </a:avLst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09160" y="19659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② 程序会犯错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26974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搜索结论不能直接当定理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1" y="1554480"/>
            <a:ext cx="3593592" cy="2606040"/>
          </a:xfrm>
          <a:prstGeom prst="roundRect">
            <a:avLst>
              <a:gd name="adj" fmla="val 8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85632" y="196596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  <a:ea typeface="微软雅黑"/>
              </a:rPr>
              <a:t>③ 于是分工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85632" y="2697480"/>
            <a:ext cx="29260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0">
                <a:solidFill>
                  <a:srgbClr val="FFFFFF"/>
                </a:solidFill>
                <a:latin typeface="微软雅黑"/>
                <a:ea typeface="微软雅黑"/>
              </a:rPr>
              <a:t>搜索器“找候选”，Lean“出定理”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828800" y="4800600"/>
            <a:ext cx="2651760" cy="1005840"/>
          </a:xfrm>
          <a:prstGeom prst="roundRect">
            <a:avLst>
              <a:gd name="adj" fmla="val 15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搜索器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找候选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480560" y="5303520"/>
            <a:ext cx="777240" cy="0"/>
          </a:xfrm>
          <a:prstGeom prst="line">
            <a:avLst/>
          </a:prstGeom>
          <a:ln w="3048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57800" y="4800600"/>
            <a:ext cx="2651760" cy="1005840"/>
          </a:xfrm>
          <a:prstGeom prst="roundRect">
            <a:avLst>
              <a:gd name="adj" fmla="val 15000"/>
            </a:avLst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证书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候选数据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909560" y="5303520"/>
            <a:ext cx="777240" cy="0"/>
          </a:xfrm>
          <a:prstGeom prst="line">
            <a:avLst/>
          </a:prstGeom>
          <a:ln w="3048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686800" y="4800600"/>
            <a:ext cx="2651760" cy="1005840"/>
          </a:xfrm>
          <a:prstGeom prst="roundRect">
            <a:avLst>
              <a:gd name="adj" fmla="val 15000"/>
            </a:avLst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</a:rPr>
              <a:t>Lean 检查器</a:t>
            </a:r>
          </a:p>
          <a:p>
            <a:pPr algn="ctr">
              <a:spcAft>
                <a:spcPts val="200"/>
              </a:spcAft>
            </a:pPr>
            <a:r>
              <a:rPr sz="1300" b="0">
                <a:solidFill>
                  <a:srgbClr val="FFFFFF"/>
                </a:solidFill>
                <a:latin typeface="微软雅黑"/>
                <a:ea typeface="微软雅黑"/>
              </a:rPr>
              <a:t>出定理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4 / 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搜索语义：两种目标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Force-Win vs Defense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371600"/>
            <a:ext cx="5440680" cy="4206240"/>
          </a:xfrm>
          <a:prstGeom prst="roundRect">
            <a:avLst>
              <a:gd name="adj" fmla="val 8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371600"/>
            <a:ext cx="5440680" cy="658368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1371600"/>
            <a:ext cx="5440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目标 A · 强制胜 CanForceWin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33172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228600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我方回合 = OR：找到一个能赢的着法即可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2990087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80160" y="2944368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对手回合 = AND：每个合法应手都要有胜子树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364845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9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80160" y="3602736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叶子 = 真实胜局，由检查器重算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" y="43068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4261104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和棋 / 输棋 / 搜索耗尽 ≠ 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496519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80160" y="4919472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产出：CompactCertificate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1371600"/>
            <a:ext cx="5440680" cy="4206240"/>
          </a:xfrm>
          <a:prstGeom prst="roundRect">
            <a:avLst>
              <a:gd name="adj" fmla="val 8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90488" y="1371600"/>
            <a:ext cx="5440680" cy="658368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1371600"/>
            <a:ext cx="544068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微软雅黑"/>
                <a:ea typeface="微软雅黑"/>
              </a:rPr>
              <a:t>目标 B · 防守证明 CanPreventWin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19672" y="2331720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228600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防守方回合：选一个保持防守的着法即可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9672" y="2990087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03720" y="2944368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攻击方回合：覆盖全部合法应手，漏一个即拒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9672" y="3648456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C9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03720" y="3602736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叶子 = 防守方胜 或 和棋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19672" y="4306824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20" y="4261104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攻击方胜的终局没有任何闭合路径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19672" y="4965192"/>
            <a:ext cx="182880" cy="182880"/>
          </a:xfrm>
          <a:prstGeom prst="roundRect">
            <a:avLst>
              <a:gd name="adj" fmla="val 50000"/>
            </a:avLst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03720" y="4919472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2B2B2B"/>
                </a:solidFill>
                <a:latin typeface="微软雅黑"/>
                <a:ea typeface="微软雅黑"/>
              </a:rPr>
              <a:t>产出：DefenseCertificate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806440"/>
            <a:ext cx="11055096" cy="685800"/>
          </a:xfrm>
          <a:prstGeom prst="roundRect">
            <a:avLst>
              <a:gd name="adj" fmla="val 18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C98A2D"/>
                </a:solidFill>
                <a:latin typeface="微软雅黑"/>
                <a:ea typeface="微软雅黑"/>
              </a:rPr>
              <a:t>两种语义都只生成候选数据：搜索器可以犯错，检查器不放错。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5 / 23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代码对照 ①：防守语义 CanPreventWin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Gomoku/Defense.lean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6B7480"/>
                </a:solidFill>
                <a:latin typeface="微软雅黑"/>
                <a:ea typeface="微软雅黑"/>
              </a:rPr>
              <a:t>目标 B 在 Lean 中的归纳定义：攻击方获胜的终局没有任何闭合路径。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600200"/>
            <a:ext cx="11055096" cy="3977639"/>
          </a:xfrm>
          <a:prstGeom prst="roundRect">
            <a:avLst>
              <a:gd name="adj" fmla="val 4000"/>
            </a:avLst>
          </a:prstGeom>
          <a:solidFill>
            <a:srgbClr val="141A2B"/>
          </a:solidFill>
          <a:ln w="12700">
            <a:solidFill>
              <a:srgbClr val="3B59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600200"/>
            <a:ext cx="11055096" cy="365760"/>
          </a:xfrm>
          <a:prstGeom prst="roundRect">
            <a:avLst>
              <a:gd name="adj" fmla="val 10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def CanPreventWin — 语义与 slide 5 右栏一一对应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57400"/>
            <a:ext cx="10597896" cy="34107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1">
                <a:solidFill>
                  <a:srgbClr val="7DC4FF"/>
                </a:solidFill>
                <a:latin typeface="Consolas"/>
                <a:ea typeface="微软雅黑"/>
              </a:rPr>
              <a:t>inductive CanPreventWin (defender : Player) : Position → Prop where</a:t>
            </a:r>
          </a:p>
          <a:p>
            <a:r>
              <a:rPr sz="1250" b="0">
                <a:solidFill>
                  <a:srgbClr val="E8ECF4"/>
                </a:solidFill>
                <a:latin typeface="Consolas"/>
                <a:ea typeface="微软雅黑"/>
              </a:rPr>
              <a:t>  | terminal {s : Position} (h : terminal s = some (winner defender)) :</a:t>
            </a:r>
          </a:p>
          <a:p>
            <a:r>
              <a:rPr sz="1250" b="0">
                <a:solidFill>
                  <a:srgbClr val="E8ECF4"/>
                </a:solidFill>
                <a:latin typeface="Consolas"/>
                <a:ea typeface="微软雅黑"/>
              </a:rPr>
              <a:t>      CanPreventWin defender s</a:t>
            </a:r>
          </a:p>
          <a:p>
            <a:r>
              <a:rPr sz="1250" b="0">
                <a:solidFill>
                  <a:srgbClr val="E8ECF4"/>
                </a:solidFill>
                <a:latin typeface="Consolas"/>
                <a:ea typeface="微软雅黑"/>
              </a:rPr>
              <a:t>  | draw {s : Position} (h : terminal s = some .draw) :</a:t>
            </a:r>
          </a:p>
          <a:p>
            <a:r>
              <a:rPr sz="1250" b="0">
                <a:solidFill>
                  <a:srgbClr val="E8ECF4"/>
                </a:solidFill>
                <a:latin typeface="Consolas"/>
                <a:ea typeface="微软雅黑"/>
              </a:rPr>
              <a:t>      CanPreventWin defender s</a:t>
            </a:r>
          </a:p>
          <a:p>
            <a:r>
              <a:rPr sz="1250" b="0">
                <a:solidFill>
                  <a:srgbClr val="E8ECF4"/>
                </a:solidFill>
                <a:latin typeface="Consolas"/>
                <a:ea typeface="微软雅黑"/>
              </a:rPr>
              <a:t>  | defenderMove {s : Position} (hterm : terminal s = none)</a:t>
            </a:r>
          </a:p>
          <a:p>
            <a:r>
              <a:rPr sz="1250" b="0">
                <a:solidFill>
                  <a:srgbClr val="E8ECF4"/>
                </a:solidFill>
                <a:latin typeface="Consolas"/>
                <a:ea typeface="微软雅黑"/>
              </a:rPr>
              <a:t>      (hturn : s.turn = defender) (m : Coord) (hm : legalMove s m)</a:t>
            </a:r>
          </a:p>
          <a:p>
            <a:r>
              <a:rPr sz="1250" b="0">
                <a:solidFill>
                  <a:srgbClr val="E8ECF4"/>
                </a:solidFill>
                <a:latin typeface="Consolas"/>
                <a:ea typeface="微软雅黑"/>
              </a:rPr>
              <a:t>      (hchild : CanPreventWin defender (play s m)) : CanPreventWin defender s</a:t>
            </a:r>
          </a:p>
          <a:p>
            <a:r>
              <a:rPr sz="1250" b="0">
                <a:solidFill>
                  <a:srgbClr val="E8ECF4"/>
                </a:solidFill>
                <a:latin typeface="Consolas"/>
                <a:ea typeface="微软雅黑"/>
              </a:rPr>
              <a:t>  | attackerMoves {s : Position} (hterm : terminal s = none)</a:t>
            </a:r>
          </a:p>
          <a:p>
            <a:r>
              <a:rPr sz="1250" b="0">
                <a:solidFill>
                  <a:srgbClr val="E8ECF4"/>
                </a:solidFill>
                <a:latin typeface="Consolas"/>
                <a:ea typeface="微软雅黑"/>
              </a:rPr>
              <a:t>      (hturn : s.turn = Player.other defender)</a:t>
            </a:r>
          </a:p>
          <a:p>
            <a:r>
              <a:rPr sz="1250" b="0">
                <a:solidFill>
                  <a:srgbClr val="E8ECF4"/>
                </a:solidFill>
                <a:latin typeface="Consolas"/>
                <a:ea typeface="微软雅黑"/>
              </a:rPr>
              <a:t>      (children : ∀ m, legalMove s m → CanPreventWin defender (play s m)) :</a:t>
            </a:r>
          </a:p>
          <a:p>
            <a:r>
              <a:rPr sz="1250" b="0">
                <a:solidFill>
                  <a:srgbClr val="E8ECF4"/>
                </a:solidFill>
                <a:latin typeface="Consolas"/>
                <a:ea typeface="微软雅黑"/>
              </a:rPr>
              <a:t>      CanPreventWin defender s</a:t>
            </a:r>
          </a:p>
          <a:p>
            <a:r>
              <a:rPr sz="1250" b="0" i="1">
                <a:solidFill>
                  <a:srgbClr val="8A99B4"/>
                </a:solidFill>
                <a:latin typeface="Consolas"/>
                <a:ea typeface="微软雅黑"/>
              </a:rPr>
              <a:t>-- 终局为和棋或防守方获胜时闭合；防守方回合为存在量词，攻击方回合为全称量词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806440"/>
            <a:ext cx="3593592" cy="502920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5852160"/>
            <a:ext cx="1783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terminal / draw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32888" y="5852160"/>
            <a:ext cx="1600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微软雅黑"/>
                <a:ea typeface="微软雅黑"/>
              </a:rPr>
              <a:t>叶子：防守方胜 或 和棋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5806440"/>
            <a:ext cx="3593592" cy="502920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5852160"/>
            <a:ext cx="1783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3B5998"/>
                </a:solidFill>
                <a:latin typeface="微软雅黑"/>
                <a:ea typeface="微软雅黑"/>
              </a:rPr>
              <a:t>defenderMove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5852160"/>
            <a:ext cx="1600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微软雅黑"/>
                <a:ea typeface="微软雅黑"/>
              </a:rPr>
              <a:t>防守方回合：只需一个合法着法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1" y="5806440"/>
            <a:ext cx="3593592" cy="502920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5852160"/>
            <a:ext cx="17830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D97B29"/>
                </a:solidFill>
                <a:latin typeface="微软雅黑"/>
                <a:ea typeface="微软雅黑"/>
              </a:rPr>
              <a:t>attackerMoves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85832" y="5852160"/>
            <a:ext cx="16002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050" b="0">
                <a:solidFill>
                  <a:srgbClr val="2B2B2B"/>
                </a:solidFill>
                <a:latin typeface="微软雅黑"/>
                <a:ea typeface="微软雅黑"/>
              </a:rPr>
              <a:t>攻击方回合：∀ m 覆盖全部合法应手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6 / 23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搜索器整体架构：双模式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Architecture · C++17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88720"/>
            <a:ext cx="11055096" cy="5029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模式 A · 强制胜搜索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8308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输入局面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7×7 + 轮到谁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542032" y="2286000"/>
            <a:ext cx="384048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926080" y="178308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DFPN 主搜索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证明数优先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901184" y="2286000"/>
            <a:ext cx="384048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285232" y="178308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C9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VCF 快攻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连续冲四检测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260336" y="2286000"/>
            <a:ext cx="384047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644383" y="178308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候选证书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CompactCertificate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619488" y="2286000"/>
            <a:ext cx="384048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0003536" y="178308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导出 Lean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def certificate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017520"/>
            <a:ext cx="11055096" cy="50292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模式 B · 防守证明  （--prove prevent-black-win | prevent-white-win）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61188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输入局面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--input / --root empty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42032" y="4114800"/>
            <a:ext cx="384048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926080" y="361188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DefenseSearcher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完整 AND/OR 搜索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901184" y="4114800"/>
            <a:ext cx="384048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285232" y="361188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C9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严格传播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found / refuted / unknown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260336" y="4114800"/>
            <a:ext cx="384047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644383" y="361188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候选证书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DefenseCertificate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19488" y="4114800"/>
            <a:ext cx="384048" cy="0"/>
          </a:xfrm>
          <a:prstGeom prst="line">
            <a:avLst/>
          </a:prstGeom>
          <a:ln w="2540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10003536" y="3611880"/>
            <a:ext cx="1975104" cy="1005840"/>
          </a:xfrm>
          <a:prstGeom prst="roundRect">
            <a:avLst>
              <a:gd name="adj" fmla="val 12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/>
                <a:ea typeface="微软雅黑"/>
              </a:rPr>
              <a:t>导出 Lean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def certificate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937760"/>
            <a:ext cx="2679192" cy="548640"/>
          </a:xfrm>
          <a:prstGeom prst="roundRect">
            <a:avLst>
              <a:gd name="adj" fmla="val 5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置换表 / Zobrist 局面键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29000" y="4937760"/>
            <a:ext cx="2679192" cy="548640"/>
          </a:xfrm>
          <a:prstGeom prst="roundRect">
            <a:avLst>
              <a:gd name="adj" fmla="val 5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迭代加深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91072" y="4937760"/>
            <a:ext cx="2679192" cy="548640"/>
          </a:xfrm>
          <a:prstGeom prst="roundRect">
            <a:avLst>
              <a:gd name="adj" fmla="val 5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资源上限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53144" y="4937760"/>
            <a:ext cx="2679192" cy="548640"/>
          </a:xfrm>
          <a:prstGeom prst="roundRect">
            <a:avLst>
              <a:gd name="adj" fmla="val 5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证书预检（仅诊断）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715000"/>
            <a:ext cx="11055096" cy="502920"/>
          </a:xfrm>
          <a:prstGeom prst="roundRect">
            <a:avLst>
              <a:gd name="adj" fmla="val 18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C98A2D"/>
                </a:solidFill>
                <a:latin typeface="微软雅黑"/>
                <a:ea typeface="微软雅黑"/>
              </a:rPr>
              <a:t>两条流水线都只产生“候选数据”：最终由 Lean 检查器验证。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6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核心算法 ①：DFPN 证明数搜索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DFPN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554480"/>
            <a:ext cx="3593592" cy="685800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554480"/>
            <a:ext cx="359359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证明数 pn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240280"/>
            <a:ext cx="3593592" cy="26517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86968" y="260604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70432" y="254203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证明必胜还需展开的节点数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86968" y="333756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327355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pn 越小 → 越接近证明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554480"/>
            <a:ext cx="3593592" cy="68580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400" y="1554480"/>
            <a:ext cx="359359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反证数 dn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43400" y="2240280"/>
            <a:ext cx="3593592" cy="26517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663440" y="260604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46904" y="254203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证明必败还需展开的节点数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33756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46904" y="327355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dn 越小 → 分支越该放弃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19871" y="1554480"/>
            <a:ext cx="3593592" cy="685800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1" y="1554480"/>
            <a:ext cx="3593592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</a:rPr>
              <a:t>选择策略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19871" y="2240280"/>
            <a:ext cx="3593592" cy="26517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439911" y="260604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23376" y="254203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优先展开 pn / dn 最小的节点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39911" y="333756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23376" y="327355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深度优先，内存友好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39911" y="4069080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23376" y="4005072"/>
            <a:ext cx="2788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输出证明路径 → 便于生成证书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212080"/>
            <a:ext cx="11055096" cy="685800"/>
          </a:xfrm>
          <a:prstGeom prst="roundRect">
            <a:avLst>
              <a:gd name="adj" fmla="val 18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C98A2D"/>
                </a:solidFill>
                <a:latin typeface="微软雅黑"/>
                <a:ea typeface="微软雅黑"/>
              </a:rPr>
              <a:t>把预算花在“最可能证明成功”的分支上；阈值可调：maxDepth / maxNodes / maxVcfDepth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7 / 23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核心算法 ②：VCF 连续冲四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VCF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1600200" cy="731520"/>
          </a:xfrm>
          <a:prstGeom prst="roundRect">
            <a:avLst>
              <a:gd name="adj" fmla="val 20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冲四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67128" y="1920240"/>
            <a:ext cx="512064" cy="0"/>
          </a:xfrm>
          <a:prstGeom prst="line">
            <a:avLst/>
          </a:prstGeom>
          <a:ln w="2794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679192" y="1554480"/>
            <a:ext cx="1600200" cy="731520"/>
          </a:xfrm>
          <a:prstGeom prst="roundRect">
            <a:avLst>
              <a:gd name="adj" fmla="val 20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对手被迫防守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279392" y="1920240"/>
            <a:ext cx="512064" cy="0"/>
          </a:xfrm>
          <a:prstGeom prst="line">
            <a:avLst/>
          </a:prstGeom>
          <a:ln w="2794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791456" y="1554480"/>
            <a:ext cx="1600200" cy="731520"/>
          </a:xfrm>
          <a:prstGeom prst="roundRect">
            <a:avLst>
              <a:gd name="adj" fmla="val 20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再冲四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391656" y="1920240"/>
            <a:ext cx="512064" cy="0"/>
          </a:xfrm>
          <a:prstGeom prst="line">
            <a:avLst/>
          </a:prstGeom>
          <a:ln w="2794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903720" y="1554480"/>
            <a:ext cx="1600200" cy="731520"/>
          </a:xfrm>
          <a:prstGeom prst="roundRect">
            <a:avLst>
              <a:gd name="adj" fmla="val 20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对手被迫防守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503920" y="1920240"/>
            <a:ext cx="512064" cy="0"/>
          </a:xfrm>
          <a:prstGeom prst="line">
            <a:avLst/>
          </a:prstGeom>
          <a:ln w="2794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015984" y="1554480"/>
            <a:ext cx="1600200" cy="731520"/>
          </a:xfrm>
          <a:prstGeom prst="roundRect">
            <a:avLst>
              <a:gd name="adj" fmla="val 2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成五 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260604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6B7480"/>
                </a:solidFill>
                <a:latin typeface="微软雅黑"/>
                <a:ea typeface="微软雅黑"/>
              </a:rPr>
              <a:t>冲四：再下一子即成五连，对手必须立刻防守 —— 连续冲四直到成五，就是一条杀棋路线。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91840"/>
            <a:ext cx="5394960" cy="26517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" y="3520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3B5998"/>
                </a:solidFill>
                <a:latin typeface="微软雅黑"/>
                <a:ea typeface="微软雅黑"/>
              </a:rPr>
              <a:t>为什么有用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86968" y="4078224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0432" y="4023360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攻击端：快速找到杀棋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86968" y="4736592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70432" y="4681728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防守端：应手骤减，搜索变小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" y="5394959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0432" y="5340096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结果仍要交给检查器复检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3291840"/>
            <a:ext cx="5394960" cy="2651760"/>
          </a:xfrm>
          <a:prstGeom prst="roundRect">
            <a:avLst>
              <a:gd name="adj" fmla="val 6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352044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3B5998"/>
                </a:solidFill>
                <a:latin typeface="微软雅黑"/>
                <a:ea typeface="微软雅黑"/>
              </a:rPr>
              <a:t>工程要点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6248" y="4078224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39712" y="4023360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独立预算：maxVcfDepth / maxVcfNodes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56248" y="4736592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4681728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与 DFPN 配合：先试快攻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56248" y="5394959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9712" y="5340096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攻不下来再回到全局面搜索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8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加速技巧：让搜索更快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Optimizations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60" cy="342900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3B5998"/>
                </a:solidFill>
                <a:latin typeface="微软雅黑"/>
                <a:ea typeface="微软雅黑"/>
              </a:rPr>
              <a:t>威胁排序 Threat Ordering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2569464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2514600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按威胁从高到低先搜</a:t>
            </a:r>
          </a:p>
        </p:txBody>
      </p:sp>
      <p:sp>
        <p:nvSpPr>
          <p:cNvPr id="10" name="Rectangle 9"/>
          <p:cNvSpPr/>
          <p:nvPr/>
        </p:nvSpPr>
        <p:spPr>
          <a:xfrm>
            <a:off x="886968" y="3227832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3172968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成五 &gt; 活四 &gt; 冲四 &gt; 活三 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86968" y="3886199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831335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更快找到杀棋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" y="454456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489704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Lean 已证明留下的着法合法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54480"/>
            <a:ext cx="5394960" cy="3429000"/>
          </a:xfrm>
          <a:prstGeom prst="roundRect">
            <a:avLst>
              <a:gd name="adj" fmla="val 6000"/>
            </a:avLst>
          </a:prstGeom>
          <a:solidFill>
            <a:srgbClr val="E7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78308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3B5998"/>
                </a:solidFill>
                <a:latin typeface="微软雅黑"/>
                <a:ea typeface="微软雅黑"/>
              </a:rPr>
              <a:t>强制防守剪枝 Forced-Move Pruning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56248" y="2569464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9712" y="2514600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对手被逼时合法应手很少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56248" y="3227832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39712" y="3172968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只展开必要应手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6248" y="3886199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3831335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大幅缩小 AND 分支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6248" y="454456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9712" y="4489704"/>
            <a:ext cx="45262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配置：useForcedMovePruning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257800"/>
            <a:ext cx="11055096" cy="685800"/>
          </a:xfrm>
          <a:prstGeom prst="roundRect">
            <a:avLst>
              <a:gd name="adj" fmla="val 18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C98A2D"/>
                </a:solidFill>
                <a:latin typeface="微软雅黑"/>
                <a:ea typeface="微软雅黑"/>
              </a:rPr>
              <a:t>两者只影响“找候选”的速度，不改变可信边界 —— 结果依旧要过 Lean 检查器。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9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资源控制：搜不到 ≠ 必败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Honest Status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80160"/>
            <a:ext cx="2679192" cy="62179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深度上限 maxDepth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80160"/>
            <a:ext cx="2679192" cy="62179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节点预算 maxNodes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280160"/>
            <a:ext cx="2679192" cy="62179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置换表上限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53144" y="1280160"/>
            <a:ext cx="2679192" cy="621792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证书节点上限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86000"/>
            <a:ext cx="3108960" cy="713232"/>
          </a:xfrm>
          <a:prstGeom prst="roundRect">
            <a:avLst>
              <a:gd name="adj" fmla="val 1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286000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E7D4F"/>
                </a:solidFill>
                <a:latin typeface="微软雅黑"/>
                <a:ea typeface="微软雅黑"/>
              </a:rPr>
              <a:t>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2286000"/>
            <a:ext cx="3566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找到候选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86000"/>
            <a:ext cx="3840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480"/>
                </a:solidFill>
                <a:latin typeface="微软雅黑"/>
                <a:ea typeface="微软雅黑"/>
              </a:rPr>
              <a:t>交给 Lean 检查器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127248"/>
            <a:ext cx="3108960" cy="713232"/>
          </a:xfrm>
          <a:prstGeom prst="roundRect">
            <a:avLst>
              <a:gd name="adj" fmla="val 15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127248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3402F"/>
                </a:solidFill>
                <a:latin typeface="微软雅黑"/>
                <a:ea typeface="微软雅黑"/>
              </a:rPr>
              <a:t>refuted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3127248"/>
            <a:ext cx="3566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防守被攻破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127248"/>
            <a:ext cx="3840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480"/>
                </a:solidFill>
                <a:latin typeface="微软雅黑"/>
                <a:ea typeface="微软雅黑"/>
              </a:rPr>
              <a:t>无证书（证明不存在防守）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968496"/>
            <a:ext cx="3108960" cy="713232"/>
          </a:xfrm>
          <a:prstGeom prst="roundRect">
            <a:avLst>
              <a:gd name="adj" fmla="val 15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3968496"/>
            <a:ext cx="31089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B3402F"/>
                </a:solidFill>
                <a:latin typeface="微软雅黑"/>
                <a:ea typeface="微软雅黑"/>
              </a:rPr>
              <a:t>unknown / 资源耗尽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77639" y="3968496"/>
            <a:ext cx="356616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2B2B2B"/>
                </a:solidFill>
                <a:latin typeface="微软雅黑"/>
                <a:ea typeface="微软雅黑"/>
              </a:rPr>
              <a:t>搜索被截断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3968496"/>
            <a:ext cx="3840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0">
                <a:solidFill>
                  <a:srgbClr val="6B7480"/>
                </a:solidFill>
                <a:latin typeface="微软雅黑"/>
                <a:ea typeface="微软雅黑"/>
              </a:rPr>
              <a:t>无证书 · 不做结论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20640"/>
            <a:ext cx="11055096" cy="685800"/>
          </a:xfrm>
          <a:prstGeom prst="roundRect">
            <a:avLst>
              <a:gd name="adj" fmla="val 18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C98A2D"/>
                </a:solidFill>
                <a:latin typeface="微软雅黑"/>
                <a:ea typeface="微软雅黑"/>
              </a:rPr>
              <a:t>有限搜索失败只表示“本次没找到证据”，绝不是和棋或必败证明；提交时须如实报告状态。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10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输出协议：两种证书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Output · v1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188720"/>
            <a:ext cx="11055096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模式 A · CompactCertificate（强制胜）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37360"/>
            <a:ext cx="3593592" cy="5303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737360"/>
            <a:ext cx="2103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terminal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95728" y="1737360"/>
            <a:ext cx="1737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胜利叶子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67712"/>
            <a:ext cx="3593592" cy="13258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" y="248716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70432" y="242316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局面真实获胜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86968" y="285292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70432" y="278892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检查器重算胜负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" y="321868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315468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不信任任何标签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737360"/>
            <a:ext cx="3593592" cy="530352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1737360"/>
            <a:ext cx="2103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proverMove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1737360"/>
            <a:ext cx="1737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目标方回合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43400" y="2267712"/>
            <a:ext cx="3593592" cy="13258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663440" y="248716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46904" y="242316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选一个合法着法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85292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46904" y="278892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指向一个子节点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63440" y="321868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946904" y="315468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子局面 = play s 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19871" y="1737360"/>
            <a:ext cx="3593592" cy="530352"/>
          </a:xfrm>
          <a:prstGeom prst="rect">
            <a:avLst/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94192" y="1737360"/>
            <a:ext cx="2103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opponentMoves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48672" y="1737360"/>
            <a:ext cx="1737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对手回合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19871" y="2267712"/>
            <a:ext cx="3593592" cy="132588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439911" y="248716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723376" y="242316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列出全部合法应手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439911" y="285292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23376" y="278892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每个应手一个子节点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39911" y="321868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723376" y="315468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漏一个 → 整张被拒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3794760"/>
            <a:ext cx="11055096" cy="457200"/>
          </a:xfrm>
          <a:prstGeom prst="roundRect">
            <a:avLst>
              <a:gd name="adj" fmla="val 12000"/>
            </a:avLst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50" b="1">
                <a:solidFill>
                  <a:srgbClr val="FFFFFF"/>
                </a:solidFill>
                <a:latin typeface="微软雅黑"/>
                <a:ea typeface="微软雅黑"/>
              </a:rPr>
              <a:t>模式 B · DefenseCertificate（防守证明）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343400"/>
            <a:ext cx="3593592" cy="530352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1247" y="4343400"/>
            <a:ext cx="2103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terminal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95728" y="4343400"/>
            <a:ext cx="1737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终局叶子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66928" y="4873752"/>
            <a:ext cx="3593592" cy="10515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86968" y="504748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70432" y="498348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结果为防守方胜或和棋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86968" y="541324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70432" y="534924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攻击方胜的叶子被拒绝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343400" y="4343400"/>
            <a:ext cx="3593592" cy="530352"/>
          </a:xfrm>
          <a:prstGeom prst="rect">
            <a:avLst/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17720" y="4343400"/>
            <a:ext cx="2103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defenderMove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72200" y="4343400"/>
            <a:ext cx="1737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防守方回合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43400" y="4873752"/>
            <a:ext cx="3593592" cy="10515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663440" y="504748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46904" y="498348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选一个保持防守的着法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663440" y="541324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946904" y="534924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指向一个子节点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19871" y="4343400"/>
            <a:ext cx="3593592" cy="530352"/>
          </a:xfrm>
          <a:prstGeom prst="rect">
            <a:avLst/>
          </a:prstGeom>
          <a:solidFill>
            <a:srgbClr val="D97B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94192" y="4343400"/>
            <a:ext cx="210312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attackerMoves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948672" y="4343400"/>
            <a:ext cx="173736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50" b="0">
                <a:solidFill>
                  <a:srgbClr val="FFFFFF"/>
                </a:solidFill>
                <a:latin typeface="微软雅黑"/>
                <a:ea typeface="微软雅黑"/>
              </a:rPr>
              <a:t>攻击方回合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119871" y="4873752"/>
            <a:ext cx="3593592" cy="1051560"/>
          </a:xfrm>
          <a:prstGeom prst="roundRect">
            <a:avLst>
              <a:gd name="adj" fmla="val 6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439911" y="504748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723376" y="498348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覆盖全部合法应手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439911" y="5413248"/>
            <a:ext cx="137160" cy="13716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723376" y="5349240"/>
            <a:ext cx="2788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漏一个 → 整张被拒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66928" y="6035040"/>
            <a:ext cx="11055096" cy="365760"/>
          </a:xfrm>
          <a:prstGeom prst="roundRect">
            <a:avLst>
              <a:gd name="adj" fmla="val 18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50" b="1">
                <a:solidFill>
                  <a:srgbClr val="C98A2D"/>
                </a:solidFill>
                <a:latin typeface="微软雅黑"/>
                <a:ea typeface="微软雅黑"/>
              </a:rPr>
              <a:t>编号规则：数组下标即编号，parent &lt; child；两种证书都推荐先序布局。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11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代码对照 ②：证书数据结构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Gomoku/Defense.lean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6B7480"/>
                </a:solidFill>
                <a:latin typeface="微软雅黑"/>
                <a:ea typeface="微软雅黑"/>
              </a:rPr>
              <a:t>模式 B 的证书格式：可序列化的扁平节点数组，子树用下标引用。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11055096" cy="4206240"/>
          </a:xfrm>
          <a:prstGeom prst="roundRect">
            <a:avLst>
              <a:gd name="adj" fmla="val 4000"/>
            </a:avLst>
          </a:prstGeom>
          <a:solidFill>
            <a:srgbClr val="141A2B"/>
          </a:solidFill>
          <a:ln w="12700">
            <a:solidFill>
              <a:srgbClr val="3B59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11055096" cy="365760"/>
          </a:xfrm>
          <a:prstGeom prst="roundRect">
            <a:avLst>
              <a:gd name="adj" fmla="val 10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DefenseCertificate — 模式 B 的证书格式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11680"/>
            <a:ext cx="10597896" cy="363931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DC4FF"/>
                </a:solidFill>
                <a:latin typeface="Consolas"/>
                <a:ea typeface="微软雅黑"/>
              </a:rPr>
              <a:t>inductive DefenseCertificateNode where</a:t>
            </a:r>
          </a:p>
          <a:p>
            <a:r>
              <a:rPr sz="1300" b="0">
                <a:solidFill>
                  <a:srgbClr val="E8ECF4"/>
                </a:solidFill>
                <a:latin typeface="Consolas"/>
                <a:ea typeface="微软雅黑"/>
              </a:rPr>
              <a:t>  | terminal (position : Position) (outcome : Outcome)</a:t>
            </a:r>
          </a:p>
          <a:p>
            <a:r>
              <a:rPr sz="1300" b="0">
                <a:solidFill>
                  <a:srgbClr val="E8ECF4"/>
                </a:solidFill>
                <a:latin typeface="Consolas"/>
                <a:ea typeface="微软雅黑"/>
              </a:rPr>
              <a:t>  | defenderMove (position : Position) (move : Coord) (child : Nat)</a:t>
            </a:r>
          </a:p>
          <a:p>
            <a:r>
              <a:rPr sz="1300" b="0">
                <a:solidFill>
                  <a:srgbClr val="E8ECF4"/>
                </a:solidFill>
                <a:latin typeface="Consolas"/>
                <a:ea typeface="微软雅黑"/>
              </a:rPr>
              <a:t>  | attackerMoves (position : Position) (children : Array (Coord × Nat))</a:t>
            </a:r>
          </a:p>
          <a:p>
            <a:r>
              <a:rPr sz="1300" b="0">
                <a:solidFill>
                  <a:srgbClr val="E8ECF4"/>
                </a:solidFill>
                <a:latin typeface="Consolas"/>
                <a:ea typeface="微软雅黑"/>
              </a:rPr>
              <a:t/>
            </a:r>
          </a:p>
          <a:p>
            <a:r>
              <a:rPr sz="1300" b="1">
                <a:solidFill>
                  <a:srgbClr val="7DC4FF"/>
                </a:solidFill>
                <a:latin typeface="Consolas"/>
                <a:ea typeface="微软雅黑"/>
              </a:rPr>
              <a:t>structure DefenseCertificate where</a:t>
            </a:r>
          </a:p>
          <a:p>
            <a:r>
              <a:rPr sz="1300" b="0">
                <a:solidFill>
                  <a:srgbClr val="E8ECF4"/>
                </a:solidFill>
                <a:latin typeface="Consolas"/>
                <a:ea typeface="微软雅黑"/>
              </a:rPr>
              <a:t>  defender : Player   -- 防守方：white 或 black</a:t>
            </a:r>
          </a:p>
          <a:p>
            <a:r>
              <a:rPr sz="1300" b="0">
                <a:solidFill>
                  <a:srgbClr val="E8ECF4"/>
                </a:solidFill>
                <a:latin typeface="Consolas"/>
                <a:ea typeface="微软雅黑"/>
              </a:rPr>
              <a:t>  root : Nat          -- 根节点下标</a:t>
            </a:r>
          </a:p>
          <a:p>
            <a:r>
              <a:rPr sz="1300" b="0">
                <a:solidFill>
                  <a:srgbClr val="E8ECF4"/>
                </a:solidFill>
                <a:latin typeface="Consolas"/>
                <a:ea typeface="微软雅黑"/>
              </a:rPr>
              <a:t>  nodes : Array DefenseCertificateNode</a:t>
            </a:r>
          </a:p>
          <a:p>
            <a:r>
              <a:rPr sz="1300" b="0">
                <a:solidFill>
                  <a:srgbClr val="E8ECF4"/>
                </a:solidFill>
                <a:latin typeface="Consolas"/>
                <a:ea typeface="微软雅黑"/>
              </a:rPr>
              <a:t/>
            </a:r>
          </a:p>
          <a:p>
            <a:r>
              <a:rPr sz="1300" b="0" i="1">
                <a:solidFill>
                  <a:srgbClr val="8A99B4"/>
                </a:solidFill>
                <a:latin typeface="Consolas"/>
                <a:ea typeface="微软雅黑"/>
              </a:rPr>
              <a:t>-- 三种节点：terminal 终局 / defenderMove 防守方一步 /</a:t>
            </a:r>
          </a:p>
          <a:p>
            <a:r>
              <a:rPr sz="1300" b="0" i="1">
                <a:solidFill>
                  <a:srgbClr val="8A99B4"/>
                </a:solidFill>
                <a:latin typeface="Consolas"/>
                <a:ea typeface="微软雅黑"/>
              </a:rPr>
              <a:t>-- attackerMoves 攻击方全部应手（children 数组）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897880"/>
            <a:ext cx="3593592" cy="457200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594360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terminal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7168" y="5943600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微软雅黑"/>
                <a:ea typeface="微软雅黑"/>
              </a:rPr>
              <a:t>终局:防守方胜或和棋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5897880"/>
            <a:ext cx="3593592" cy="457200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594360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3B5998"/>
                </a:solidFill>
                <a:latin typeface="微软雅黑"/>
                <a:ea typeface="微软雅黑"/>
              </a:rPr>
              <a:t>defenderMove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5943600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微软雅黑"/>
                <a:ea typeface="微软雅黑"/>
              </a:rPr>
              <a:t>防守方选一步 → child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1" y="5897880"/>
            <a:ext cx="3593592" cy="457200"/>
          </a:xfrm>
          <a:prstGeom prst="roundRect">
            <a:avLst>
              <a:gd name="adj" fmla="val 12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5943600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50" b="1">
                <a:solidFill>
                  <a:srgbClr val="D97B29"/>
                </a:solidFill>
                <a:latin typeface="微软雅黑"/>
                <a:ea typeface="微软雅黑"/>
              </a:rPr>
              <a:t>attackerMoves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40111" y="5943600"/>
            <a:ext cx="16459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微软雅黑"/>
                <a:ea typeface="微软雅黑"/>
              </a:rPr>
              <a:t>攻击方全应手 → children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12 /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设计核心：可信边界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Trust Boundary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600200"/>
            <a:ext cx="4709160" cy="356616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不可信：搜索器输出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896112" y="2560320"/>
            <a:ext cx="146304" cy="146304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496312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C++ 搜索器（DFPN / VCF / DefenseSearcher）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" y="3182112"/>
            <a:ext cx="146304" cy="146304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3118104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启发式与剪枝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96112" y="3803904"/>
            <a:ext cx="146304" cy="146304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3739896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置换表与各种缓存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6112" y="4425696"/>
            <a:ext cx="146304" cy="146304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361688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C++ 预检（仅诊断）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12864" y="1600200"/>
            <a:ext cx="4709160" cy="3566160"/>
          </a:xfrm>
          <a:prstGeom prst="roundRect">
            <a:avLst>
              <a:gd name="adj" fmla="val 8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14616" y="1874519"/>
            <a:ext cx="41148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2E7D4F"/>
                </a:solidFill>
                <a:latin typeface="微软雅黑"/>
                <a:ea typeface="微软雅黑"/>
              </a:rPr>
              <a:t>可信：Lean 检查器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42048" y="2560320"/>
            <a:ext cx="146304" cy="1463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34656" y="2496312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checkCertificate / checkDefenseCertificateAt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42048" y="3182112"/>
            <a:ext cx="146304" cy="1463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34656" y="3118104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重算终局胜负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3803904"/>
            <a:ext cx="146304" cy="1463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34656" y="3739896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验证合法性与子局面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42048" y="4425696"/>
            <a:ext cx="146304" cy="146304"/>
          </a:xfrm>
          <a:prstGeom prst="rect">
            <a:avLst/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34656" y="4361688"/>
            <a:ext cx="39319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2B2B2B"/>
                </a:solidFill>
                <a:latin typeface="微软雅黑"/>
                <a:ea typeface="微软雅黑"/>
              </a:rPr>
              <a:t>攻击方全应手覆盖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276088" y="3383280"/>
            <a:ext cx="1636776" cy="0"/>
          </a:xfrm>
          <a:prstGeom prst="line">
            <a:avLst/>
          </a:prstGeom>
          <a:ln w="33020">
            <a:solidFill>
              <a:srgbClr val="6B748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193792" y="265176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6B7480"/>
                </a:solidFill>
                <a:latin typeface="微软雅黑"/>
                <a:ea typeface="微软雅黑"/>
              </a:rPr>
              <a:t>重新检查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8920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B3402F"/>
                </a:solidFill>
                <a:latin typeface="微软雅黑"/>
                <a:ea typeface="微软雅黑"/>
              </a:rPr>
              <a:t>→ 只生成候选，可以出错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14616" y="489204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2E7D4F"/>
                </a:solidFill>
                <a:latin typeface="微软雅黑"/>
                <a:ea typeface="微软雅黑"/>
              </a:rPr>
              <a:t>→ 通过 → CanForceWin / CanPreventWin 定理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532120"/>
            <a:ext cx="11055096" cy="685800"/>
          </a:xfrm>
          <a:prstGeom prst="roundRect">
            <a:avLst>
              <a:gd name="adj" fmla="val 18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C98A2D"/>
                </a:solidFill>
                <a:latin typeface="微软雅黑"/>
                <a:ea typeface="微软雅黑"/>
              </a:rPr>
              <a:t>搜索器可以犯错，检查器不放错；通过检查的证书才是定理。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12 /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实战：中盘和棋局面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DefenseSearcher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6B7480"/>
                </a:solidFill>
                <a:latin typeface="微软雅黑"/>
                <a:ea typeface="微软雅黑"/>
              </a:rPr>
              <a:t>9 个机器验证的局面 · 21 黑 + 21 白 · 7 空格 · 轮到黑方。每个长度 5 窗口都含黑白两子，任何一方都无法成五。</a:t>
            </a:r>
          </a:p>
        </p:txBody>
      </p:sp>
      <p:pic>
        <p:nvPicPr>
          <p:cNvPr id="7" name="Picture 6" descr="Draw7x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3419061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5623560"/>
            <a:ext cx="3319272" cy="566928"/>
          </a:xfrm>
          <a:prstGeom prst="roundRect">
            <a:avLst>
              <a:gd name="adj" fmla="val 1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5687568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7D4F"/>
                </a:solidFill>
                <a:latin typeface="微软雅黑"/>
                <a:ea typeface="微软雅黑"/>
              </a:rPr>
              <a:t>Draw7x7.lean · seed 1</a:t>
            </a:r>
          </a:p>
        </p:txBody>
      </p:sp>
      <p:pic>
        <p:nvPicPr>
          <p:cNvPr id="10" name="Picture 9" descr="Draw7x7s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54480"/>
            <a:ext cx="3419061" cy="3931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434840" y="5623560"/>
            <a:ext cx="3319272" cy="566928"/>
          </a:xfrm>
          <a:prstGeom prst="roundRect">
            <a:avLst>
              <a:gd name="adj" fmla="val 1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5687568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7D4F"/>
                </a:solidFill>
                <a:latin typeface="微软雅黑"/>
                <a:ea typeface="微软雅黑"/>
              </a:rPr>
              <a:t>Draw7x7s2.lean · seed 2</a:t>
            </a:r>
          </a:p>
        </p:txBody>
      </p:sp>
      <p:pic>
        <p:nvPicPr>
          <p:cNvPr id="13" name="Picture 12" descr="Draw7x7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554480"/>
            <a:ext cx="3419061" cy="39319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02752" y="5623560"/>
            <a:ext cx="3319272" cy="566928"/>
          </a:xfrm>
          <a:prstGeom prst="roundRect">
            <a:avLst>
              <a:gd name="adj" fmla="val 1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5687568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7D4F"/>
                </a:solidFill>
                <a:latin typeface="微软雅黑"/>
                <a:ea typeface="微软雅黑"/>
              </a:rPr>
              <a:t>Draw7x7s3.lean · seed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13 /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实战：中盘和棋局面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DefenseSearcher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6B7480"/>
                </a:solidFill>
                <a:latin typeface="微软雅黑"/>
                <a:ea typeface="微软雅黑"/>
              </a:rPr>
              <a:t>每个局面都由 DefenseSearcher 独立生成白防黑 + 黑防白两张防守证书。</a:t>
            </a:r>
          </a:p>
        </p:txBody>
      </p:sp>
      <p:pic>
        <p:nvPicPr>
          <p:cNvPr id="7" name="Picture 6" descr="Draw7x7s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3419061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5623560"/>
            <a:ext cx="3319272" cy="566928"/>
          </a:xfrm>
          <a:prstGeom prst="roundRect">
            <a:avLst>
              <a:gd name="adj" fmla="val 1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5687568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7D4F"/>
                </a:solidFill>
                <a:latin typeface="微软雅黑"/>
                <a:ea typeface="微软雅黑"/>
              </a:rPr>
              <a:t>Draw7x7s4.lean · seed 4</a:t>
            </a:r>
          </a:p>
        </p:txBody>
      </p:sp>
      <p:pic>
        <p:nvPicPr>
          <p:cNvPr id="10" name="Picture 9" descr="Draw7x7s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54480"/>
            <a:ext cx="3419061" cy="3931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434840" y="5623560"/>
            <a:ext cx="3319272" cy="566928"/>
          </a:xfrm>
          <a:prstGeom prst="roundRect">
            <a:avLst>
              <a:gd name="adj" fmla="val 1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5687568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7D4F"/>
                </a:solidFill>
                <a:latin typeface="微软雅黑"/>
                <a:ea typeface="微软雅黑"/>
              </a:rPr>
              <a:t>Draw7x7s5.lean · seed 5</a:t>
            </a:r>
          </a:p>
        </p:txBody>
      </p:sp>
      <p:pic>
        <p:nvPicPr>
          <p:cNvPr id="13" name="Picture 12" descr="Draw7x7s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554480"/>
            <a:ext cx="3419061" cy="39319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02752" y="5623560"/>
            <a:ext cx="3319272" cy="566928"/>
          </a:xfrm>
          <a:prstGeom prst="roundRect">
            <a:avLst>
              <a:gd name="adj" fmla="val 1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5687568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7D4F"/>
                </a:solidFill>
                <a:latin typeface="微软雅黑"/>
                <a:ea typeface="微软雅黑"/>
              </a:rPr>
              <a:t>Draw7x7s6.lean · seed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14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实战：中盘和棋局面 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DefenseSearcher Output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6B7480"/>
                </a:solidFill>
                <a:latin typeface="微软雅黑"/>
                <a:ea typeface="微软雅黑"/>
              </a:rPr>
              <a:t>每个局面都有白防黑、黑防白两张防守证书，分别给出双方的阻止获胜结论。</a:t>
            </a:r>
          </a:p>
        </p:txBody>
      </p:sp>
      <p:pic>
        <p:nvPicPr>
          <p:cNvPr id="7" name="Picture 6" descr="Draw7x7s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54480"/>
            <a:ext cx="3419061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66928" y="5623560"/>
            <a:ext cx="3319272" cy="566928"/>
          </a:xfrm>
          <a:prstGeom prst="roundRect">
            <a:avLst>
              <a:gd name="adj" fmla="val 1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5687568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7D4F"/>
                </a:solidFill>
                <a:latin typeface="微软雅黑"/>
                <a:ea typeface="微软雅黑"/>
              </a:rPr>
              <a:t>Draw7x7s7.lean · seed 7</a:t>
            </a:r>
          </a:p>
        </p:txBody>
      </p:sp>
      <p:pic>
        <p:nvPicPr>
          <p:cNvPr id="10" name="Picture 9" descr="Draw7x7s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554480"/>
            <a:ext cx="3419061" cy="393192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434840" y="5623560"/>
            <a:ext cx="3319272" cy="566928"/>
          </a:xfrm>
          <a:prstGeom prst="roundRect">
            <a:avLst>
              <a:gd name="adj" fmla="val 1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5687568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7D4F"/>
                </a:solidFill>
                <a:latin typeface="微软雅黑"/>
                <a:ea typeface="微软雅黑"/>
              </a:rPr>
              <a:t>Draw7x7s8.lean · seed 8</a:t>
            </a:r>
          </a:p>
        </p:txBody>
      </p:sp>
      <p:pic>
        <p:nvPicPr>
          <p:cNvPr id="13" name="Picture 12" descr="Draw7x7s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2752" y="1554480"/>
            <a:ext cx="3419061" cy="393192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8302752" y="5623560"/>
            <a:ext cx="3319272" cy="566928"/>
          </a:xfrm>
          <a:prstGeom prst="roundRect">
            <a:avLst>
              <a:gd name="adj" fmla="val 1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9912" y="5687568"/>
            <a:ext cx="30632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2E7D4F"/>
                </a:solidFill>
                <a:latin typeface="微软雅黑"/>
                <a:ea typeface="微软雅黑"/>
              </a:rPr>
              <a:t>Draw7x7s9.lean · seed 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15 / 23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代码对照 ③：两张证书 → StandardDraw 定理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Gomoku/Generated/Draw7x7.lean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0">
                <a:solidFill>
                  <a:srgbClr val="6B7480"/>
                </a:solidFill>
                <a:latin typeface="微软雅黑"/>
                <a:ea typeface="微软雅黑"/>
              </a:rPr>
              <a:t>C++ 生成的 Lean 文件：白防黑 + 黑防白两张防守证书，用 soundness 定理组合出和棋结论。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554480"/>
            <a:ext cx="11055096" cy="3017520"/>
          </a:xfrm>
          <a:prstGeom prst="roundRect">
            <a:avLst>
              <a:gd name="adj" fmla="val 4000"/>
            </a:avLst>
          </a:prstGeom>
          <a:solidFill>
            <a:srgbClr val="141A2B"/>
          </a:solidFill>
          <a:ln w="12700">
            <a:solidFill>
              <a:srgbClr val="3B599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554480"/>
            <a:ext cx="11055096" cy="365760"/>
          </a:xfrm>
          <a:prstGeom prst="roundRect">
            <a:avLst>
              <a:gd name="adj" fmla="val 10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  <a:ea typeface="微软雅黑"/>
              </a:rPr>
              <a:t>两张防守证书 → 和棋定理（Gomoku/Generated/Draw7x7.lean）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8" y="2011680"/>
            <a:ext cx="10597896" cy="24505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7DC4FF"/>
                </a:solidFill>
                <a:latin typeface="Consolas"/>
                <a:ea typeface="微软雅黑"/>
              </a:rPr>
              <a:t>theorem draw7x7WhitePrevents : WhiteCanPreventBlackWin draw7x7RootPosition</a:t>
            </a:r>
          </a:p>
          <a:p>
            <a:r>
              <a:rPr sz="1300" b="0" i="1">
                <a:solidFill>
                  <a:srgbClr val="8A99B4"/>
                </a:solidFill>
                <a:latin typeface="Consolas"/>
                <a:ea typeface="微软雅黑"/>
              </a:rPr>
              <a:t>  := white_defense_certificate_sound ...   -- 白防黑证书</a:t>
            </a:r>
          </a:p>
          <a:p>
            <a:r>
              <a:rPr sz="1300" b="0">
                <a:solidFill>
                  <a:srgbClr val="E8ECF4"/>
                </a:solidFill>
                <a:latin typeface="Consolas"/>
                <a:ea typeface="微软雅黑"/>
              </a:rPr>
              <a:t/>
            </a:r>
          </a:p>
          <a:p>
            <a:r>
              <a:rPr sz="1300" b="1">
                <a:solidFill>
                  <a:srgbClr val="7DC4FF"/>
                </a:solidFill>
                <a:latin typeface="Consolas"/>
                <a:ea typeface="微软雅黑"/>
              </a:rPr>
              <a:t>theorem draw7x7BlackPrevents : BlackCanPreventWhiteWin draw7x7RootPosition</a:t>
            </a:r>
          </a:p>
          <a:p>
            <a:r>
              <a:rPr sz="1300" b="0" i="1">
                <a:solidFill>
                  <a:srgbClr val="8A99B4"/>
                </a:solidFill>
                <a:latin typeface="Consolas"/>
                <a:ea typeface="微软雅黑"/>
              </a:rPr>
              <a:t>  := black_defense_certificate_sound ...   -- 黑防白证书</a:t>
            </a:r>
          </a:p>
          <a:p>
            <a:r>
              <a:rPr sz="1300" b="0">
                <a:solidFill>
                  <a:srgbClr val="E8ECF4"/>
                </a:solidFill>
                <a:latin typeface="Consolas"/>
                <a:ea typeface="微软雅黑"/>
              </a:rPr>
              <a:t/>
            </a:r>
          </a:p>
          <a:p>
            <a:r>
              <a:rPr sz="1300" b="1">
                <a:solidFill>
                  <a:srgbClr val="7DC4FF"/>
                </a:solidFill>
                <a:latin typeface="Consolas"/>
                <a:ea typeface="微软雅黑"/>
              </a:rPr>
              <a:t>theorem draw7x7StandardDraw : StandardDraw draw7x7RootPosition :=</a:t>
            </a:r>
          </a:p>
          <a:p>
            <a:r>
              <a:rPr sz="1300" b="0">
                <a:solidFill>
                  <a:srgbClr val="E8ECF4"/>
                </a:solidFill>
                <a:latin typeface="Consolas"/>
                <a:ea typeface="微软雅黑"/>
              </a:rPr>
              <a:t>  standardDraw_of_mutualDefense</a:t>
            </a:r>
          </a:p>
          <a:p>
            <a:r>
              <a:rPr sz="1300" b="0">
                <a:solidFill>
                  <a:srgbClr val="E8ECF4"/>
                </a:solidFill>
                <a:latin typeface="Consolas"/>
                <a:ea typeface="微软雅黑"/>
              </a:rPr>
              <a:t>    draw7x7WhitePrevents</a:t>
            </a:r>
          </a:p>
          <a:p>
            <a:r>
              <a:rPr sz="1300" b="0">
                <a:solidFill>
                  <a:srgbClr val="E8ECF4"/>
                </a:solidFill>
                <a:latin typeface="Consolas"/>
                <a:ea typeface="微软雅黑"/>
              </a:rPr>
              <a:t>    draw7x7BlackPrevents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29200"/>
            <a:ext cx="3593592" cy="914400"/>
          </a:xfrm>
          <a:prstGeom prst="roundRect">
            <a:avLst>
              <a:gd name="adj" fmla="val 1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5120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7D4F"/>
                </a:solidFill>
                <a:latin typeface="微软雅黑"/>
                <a:ea typeface="微软雅黑"/>
              </a:rPr>
              <a:t>white_defense_certificate_sound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54864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微软雅黑"/>
                <a:ea typeface="微软雅黑"/>
              </a:rPr>
              <a:t>白防黑 → WhiteCanPreventBlackWin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5029200"/>
            <a:ext cx="3593592" cy="914400"/>
          </a:xfrm>
          <a:prstGeom prst="roundRect">
            <a:avLst>
              <a:gd name="adj" fmla="val 1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5120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3B5998"/>
                </a:solidFill>
                <a:latin typeface="微软雅黑"/>
                <a:ea typeface="微软雅黑"/>
              </a:rPr>
              <a:t>black_defense_certificate_sound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4864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微软雅黑"/>
                <a:ea typeface="微软雅黑"/>
              </a:rPr>
              <a:t>黑防白 → BlackCanPreventWhiteWin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1" y="5029200"/>
            <a:ext cx="3593592" cy="914400"/>
          </a:xfrm>
          <a:prstGeom prst="roundRect">
            <a:avLst>
              <a:gd name="adj" fmla="val 1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48471" y="512064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D97B29"/>
                </a:solidFill>
                <a:latin typeface="微软雅黑"/>
                <a:ea typeface="微软雅黑"/>
              </a:rPr>
              <a:t>standardDraw_of_mutualDefense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48471" y="5486400"/>
            <a:ext cx="3200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2B2B2B"/>
                </a:solidFill>
                <a:latin typeface="微软雅黑"/>
                <a:ea typeface="微软雅黑"/>
              </a:rPr>
              <a:t>两者组合 → StandardDraw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16 / 23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验证链：从证书到 StandardDraw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Trust Chain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2C3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① 构造局面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每个长度 5 窗口都含黑白两子
→ 任何一方永远无法成五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72968" y="2258568"/>
            <a:ext cx="393192" cy="0"/>
          </a:xfrm>
          <a:prstGeom prst="line">
            <a:avLst/>
          </a:prstGeom>
          <a:ln w="25400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6160" y="155448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3B599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② C++ 找证书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白防黑 + 黑防白 两张防守证书
(搜索器不可信, 只出候选)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172200" y="2258568"/>
            <a:ext cx="393192" cy="0"/>
          </a:xfrm>
          <a:prstGeom prst="line">
            <a:avLst/>
          </a:prstGeom>
          <a:ln w="25400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565392" y="155448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C98A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③ Lean 重算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checkDefenseCertificateAt
逐节点重算局面/轮次/终局/应手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171432" y="2258568"/>
            <a:ext cx="393192" cy="0"/>
          </a:xfrm>
          <a:prstGeom prst="line">
            <a:avLst/>
          </a:prstGeom>
          <a:ln w="25400">
            <a:solidFill>
              <a:srgbClr val="6B74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564624" y="1554480"/>
            <a:ext cx="2606040" cy="1417320"/>
          </a:xfrm>
          <a:prstGeom prst="roundRect">
            <a:avLst>
              <a:gd name="adj" fmla="val 10000"/>
            </a:avLst>
          </a:prstGeom>
          <a:solidFill>
            <a:srgbClr val="2E7D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/>
                <a:ea typeface="微软雅黑"/>
              </a:rPr>
              <a:t>④ 组合出定理</a:t>
            </a:r>
          </a:p>
          <a:p>
            <a:pPr algn="ctr"/>
            <a:r>
              <a:rPr sz="1150" b="0">
                <a:solidFill>
                  <a:srgbClr val="FFFFFF"/>
                </a:solidFill>
                <a:latin typeface="微软雅黑"/>
                <a:ea typeface="微软雅黑"/>
              </a:rPr>
              <a:t>两张证书 + soundness
⇒ StandardDraw 局面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429000"/>
            <a:ext cx="110642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B2A4A"/>
                </a:solidFill>
                <a:latin typeface="微软雅黑"/>
                <a:ea typeface="微软雅黑"/>
              </a:rPr>
              <a:t>每个局面独立验证 4 项断言 (全部 native_decide, 不依赖 C++ 结果):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023360"/>
            <a:ext cx="7863840" cy="384048"/>
          </a:xfrm>
          <a:prstGeom prst="roundRect">
            <a:avLst>
              <a:gd name="adj" fmla="val 3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4023360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微软雅黑"/>
                <a:ea typeface="微软雅黑"/>
              </a:rPr>
              <a:t>白防黑证书 checkDefenseCertificateAt = true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0" y="4023360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9 / 9 通过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480560"/>
            <a:ext cx="7863840" cy="384048"/>
          </a:xfrm>
          <a:prstGeom prst="roundRect">
            <a:avLst>
              <a:gd name="adj" fmla="val 3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80560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微软雅黑"/>
                <a:ea typeface="微软雅黑"/>
              </a:rPr>
              <a:t>黑防白证书 checkDefenseCertificateAt = true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0" y="4480560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9 / 9 通过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937760"/>
            <a:ext cx="7863840" cy="384048"/>
          </a:xfrm>
          <a:prstGeom prst="roundRect">
            <a:avLst>
              <a:gd name="adj" fmla="val 3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4937760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微软雅黑"/>
                <a:ea typeface="微软雅黑"/>
              </a:rPr>
              <a:t>局面形状: 21黑 + 21白 + 7空 + 轮到黑方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937760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9 / 9 通过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94960"/>
            <a:ext cx="7863840" cy="384048"/>
          </a:xfrm>
          <a:prstGeom prst="roundRect">
            <a:avLst>
              <a:gd name="adj" fmla="val 3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5394960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微软雅黑"/>
                <a:ea typeface="微软雅黑"/>
              </a:rPr>
              <a:t>60 个长度 5 窗口全部双色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5394960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9 / 9 通过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852160"/>
            <a:ext cx="7863840" cy="384048"/>
          </a:xfrm>
          <a:prstGeom prst="roundRect">
            <a:avLst>
              <a:gd name="adj" fmla="val 30000"/>
            </a:avLst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5852160"/>
            <a:ext cx="7498079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0">
                <a:solidFill>
                  <a:srgbClr val="2B2B2B"/>
                </a:solidFill>
                <a:latin typeface="微软雅黑"/>
                <a:ea typeface="微软雅黑"/>
              </a:rPr>
              <a:t>StandardDraw &lt;position&gt; 由两张证书组合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686800" y="5852160"/>
            <a:ext cx="2743200" cy="384048"/>
          </a:xfrm>
          <a:prstGeom prst="roundRect">
            <a:avLst>
              <a:gd name="adj" fmla="val 30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350" b="1">
                <a:solidFill>
                  <a:srgbClr val="2E7D4F"/>
                </a:solidFill>
                <a:latin typeface="微软雅黑"/>
                <a:ea typeface="微软雅黑"/>
              </a:rPr>
              <a:t>9 / 9 通过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943600"/>
            <a:ext cx="11055096" cy="457200"/>
          </a:xfrm>
          <a:prstGeom prst="roundRect">
            <a:avLst>
              <a:gd name="adj" fmla="val 20000"/>
            </a:avLst>
          </a:prstGeom>
          <a:solidFill>
            <a:srgbClr val="FBEF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400" b="1">
                <a:solidFill>
                  <a:srgbClr val="C98A2D"/>
                </a:solidFill>
                <a:latin typeface="微软雅黑"/>
                <a:ea typeface="微软雅黑"/>
              </a:rPr>
              <a:t>搜索器可以犯错, 检查器不放错; 通过检查的证书才是定理。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16 / 23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全部 9 个局面: 汇总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371600"/>
            <a:ext cx="2267712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371600"/>
            <a:ext cx="2267712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Lean 定理文件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1371600"/>
            <a:ext cx="192024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0" y="1371600"/>
            <a:ext cx="1920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种子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371600"/>
            <a:ext cx="164592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371600"/>
            <a:ext cx="1645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白防证书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1371600"/>
            <a:ext cx="173736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371600"/>
            <a:ext cx="17373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黑防证书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182880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38160" y="1371600"/>
            <a:ext cx="18288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StandardDraw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966960" y="1371600"/>
            <a:ext cx="1463040" cy="502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66960" y="1371600"/>
            <a:ext cx="14630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窗口双色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1965960"/>
            <a:ext cx="2267712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1965960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Draw7x7.lean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34640" y="1965960"/>
            <a:ext cx="19202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0" y="1965960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965960"/>
            <a:ext cx="164592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1965960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0800" y="1965960"/>
            <a:ext cx="173736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1965960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38160" y="1965960"/>
            <a:ext cx="182880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60" y="1965960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966960" y="1965960"/>
            <a:ext cx="14630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66960" y="196596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2441448"/>
            <a:ext cx="22677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2441448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Draw7x7s2.lean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34640" y="2441448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834640" y="2441448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2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2441448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4880" y="2441448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441448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2441448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2441448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38160" y="2441448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966960" y="2441448"/>
            <a:ext cx="1463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66960" y="2441448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2916936"/>
            <a:ext cx="2267712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66928" y="2916936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Draw7x7s3.lean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34640" y="2916936"/>
            <a:ext cx="19202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34640" y="2916936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754880" y="2916936"/>
            <a:ext cx="164592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4880" y="2916936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2916936"/>
            <a:ext cx="173736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0" y="2916936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38160" y="2916936"/>
            <a:ext cx="182880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38160" y="2916936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966960" y="2916936"/>
            <a:ext cx="14630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66960" y="2916936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66928" y="3392424"/>
            <a:ext cx="22677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66928" y="3392424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Draw7x7s4.lean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834640" y="3392424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834640" y="3392424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754880" y="3392424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754880" y="3392424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00800" y="3392424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3392424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38160" y="3392424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138160" y="3392424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966960" y="3392424"/>
            <a:ext cx="1463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966960" y="3392424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66928" y="3867912"/>
            <a:ext cx="2267712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3867912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Draw7x7s5.lean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834640" y="3867912"/>
            <a:ext cx="19202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834640" y="3867912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5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54880" y="3867912"/>
            <a:ext cx="164592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54880" y="3867912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400800" y="3867912"/>
            <a:ext cx="173736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0" y="3867912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38160" y="3867912"/>
            <a:ext cx="182880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138160" y="3867912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966960" y="3867912"/>
            <a:ext cx="14630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966960" y="3867912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78" name="Rectangle 77"/>
          <p:cNvSpPr/>
          <p:nvPr/>
        </p:nvSpPr>
        <p:spPr>
          <a:xfrm>
            <a:off x="566928" y="4343400"/>
            <a:ext cx="22677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566928" y="4343400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Draw7x7s6.lean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834640" y="4343400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834640" y="4343400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6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54880" y="4343400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754880" y="4343400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400800" y="4343400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400800" y="4343400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138160" y="4343400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138160" y="4343400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88" name="Rectangle 87"/>
          <p:cNvSpPr/>
          <p:nvPr/>
        </p:nvSpPr>
        <p:spPr>
          <a:xfrm>
            <a:off x="9966960" y="4343400"/>
            <a:ext cx="1463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966960" y="4343400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66928" y="4818888"/>
            <a:ext cx="2267712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66928" y="4818888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Draw7x7s7.lean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834640" y="4818888"/>
            <a:ext cx="19202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834640" y="4818888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4754880" y="4818888"/>
            <a:ext cx="164592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754880" y="4818888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96" name="Rectangle 95"/>
          <p:cNvSpPr/>
          <p:nvPr/>
        </p:nvSpPr>
        <p:spPr>
          <a:xfrm>
            <a:off x="6400800" y="4818888"/>
            <a:ext cx="173736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400800" y="4818888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98" name="Rectangle 97"/>
          <p:cNvSpPr/>
          <p:nvPr/>
        </p:nvSpPr>
        <p:spPr>
          <a:xfrm>
            <a:off x="8138160" y="4818888"/>
            <a:ext cx="182880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8138160" y="4818888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9966960" y="4818888"/>
            <a:ext cx="14630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966960" y="4818888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66928" y="5294375"/>
            <a:ext cx="2267712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66928" y="5294375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Draw7x7s8.lean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834640" y="5294375"/>
            <a:ext cx="19202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834640" y="5294375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754880" y="5294375"/>
            <a:ext cx="164592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754880" y="5294375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400800" y="5294375"/>
            <a:ext cx="173736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6400800" y="5294375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138160" y="5294375"/>
            <a:ext cx="182880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138160" y="5294375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966960" y="5294375"/>
            <a:ext cx="1463040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966960" y="5294375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66928" y="5769863"/>
            <a:ext cx="2267712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66928" y="5769863"/>
            <a:ext cx="2267712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B2B2B"/>
                </a:solidFill>
                <a:latin typeface="微软雅黑"/>
                <a:ea typeface="微软雅黑"/>
              </a:rPr>
              <a:t>Draw7x7s9.lean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834640" y="5769863"/>
            <a:ext cx="19202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834640" y="5769863"/>
            <a:ext cx="19202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B2B2B"/>
                </a:solidFill>
                <a:latin typeface="微软雅黑"/>
                <a:ea typeface="微软雅黑"/>
              </a:rPr>
              <a:t>seed 9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4754880" y="5769863"/>
            <a:ext cx="164592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754880" y="5769863"/>
            <a:ext cx="164592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6400800" y="5769863"/>
            <a:ext cx="173736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400800" y="5769863"/>
            <a:ext cx="173736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138160" y="5769863"/>
            <a:ext cx="182880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8138160" y="5769863"/>
            <a:ext cx="18288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 定理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966960" y="5769863"/>
            <a:ext cx="1463040" cy="475488"/>
          </a:xfrm>
          <a:prstGeom prst="rect">
            <a:avLst/>
          </a:prstGeom>
          <a:solidFill>
            <a:srgbClr val="F1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966960" y="5769863"/>
            <a:ext cx="146304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7D4F"/>
                </a:solidFill>
                <a:latin typeface="微软雅黑"/>
                <a:ea typeface="微软雅黑"/>
              </a:rPr>
              <a:t>✓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566928" y="5806440"/>
            <a:ext cx="11055096" cy="548640"/>
          </a:xfrm>
          <a:prstGeom prst="roundRect">
            <a:avLst>
              <a:gd name="adj" fmla="val 15000"/>
            </a:avLst>
          </a:prstGeom>
          <a:solidFill>
            <a:srgbClr val="E4F1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2E7D4F"/>
                </a:solidFill>
                <a:latin typeface="微软雅黑"/>
                <a:ea typeface="微软雅黑"/>
              </a:rPr>
              <a:t>9 / 9 全部通过: 每张证书经 Lean 检查器重算, 每个局面都证明了 StandardDraw。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17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不足 ①：功能缺口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Not Done Well · Function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051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空棋盘开局求解 · 未完成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6888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没有从 7×7 空棋盘开始的必胜证书，不能宣称 initial_black_wins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55448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55448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81051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空棋盘和棋 · 只差“白防黑”一环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46888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黑防白 BlackCanPreventWhiteWin initialPosition 已证（策略偷取）；只差 WhiteCanPreventBlackWin initialPosition，即可组合出空棋盘 StandardDraw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0332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70332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95935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缓存 · 未接入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6177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SearchMemo / EngineMemo 已定义，但还没有接入引擎默认搜索流程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70332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370332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395935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性能 · 未验证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46177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目前只有一步胜、双应手、开四 VCF 与中盘和棋等示例，规模没有跑起来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806440"/>
            <a:ext cx="11055096" cy="685800"/>
          </a:xfrm>
          <a:prstGeom prst="roundRect">
            <a:avLst>
              <a:gd name="adj" fmla="val 1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B3402F"/>
                </a:solidFill>
                <a:latin typeface="微软雅黑"/>
                <a:ea typeface="微软雅黑"/>
              </a:rPr>
              <a:t>这些缺口意味着：项目目前给不出“空棋盘黑棋先手必胜”或“空棋盘和棋”的结论。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18 / 23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301752"/>
            <a:ext cx="100584" cy="329184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"/>
            <a:ext cx="9601200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不足 ②：工程与验证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79" y="27432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200" b="0">
                <a:solidFill>
                  <a:srgbClr val="B9C4DD"/>
                </a:solidFill>
                <a:latin typeface="微软雅黑"/>
                <a:ea typeface="微软雅黑"/>
              </a:rPr>
              <a:t>Not Done Well · Engineering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55448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55448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1051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参数没有系统调优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46888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maxDepth / maxVcfDepth / maxNodes 用的是保守默认值，没做过参数扫描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6208" y="155448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36208" y="155448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47688" y="181051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缺少基准数据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47688" y="246888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证书大小、Lean 检查耗时、缓存命中率都没有系统记录和对比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70332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370332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8408" y="395935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导出→复检链路粗糙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8408" y="46177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C++ 导出 Lean 源码后要手工跑检查，自动化程度不高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6208" y="3703320"/>
            <a:ext cx="5394960" cy="1920240"/>
          </a:xfrm>
          <a:prstGeom prst="roundRect">
            <a:avLst>
              <a:gd name="adj" fmla="val 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36208" y="3703320"/>
            <a:ext cx="128016" cy="1920240"/>
          </a:xfrm>
          <a:prstGeom prst="rect">
            <a:avLst/>
          </a:prstGeom>
          <a:solidFill>
            <a:srgbClr val="B340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3959352"/>
            <a:ext cx="46634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1">
                <a:solidFill>
                  <a:srgbClr val="B3402F"/>
                </a:solidFill>
                <a:latin typeface="微软雅黑"/>
                <a:ea typeface="微软雅黑"/>
              </a:rPr>
              <a:t>投入偏重正确性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47688" y="4617720"/>
            <a:ext cx="4663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>
                <a:solidFill>
                  <a:srgbClr val="2B2B2B"/>
                </a:solidFill>
                <a:latin typeface="微软雅黑"/>
                <a:ea typeface="微软雅黑"/>
              </a:rPr>
              <a:t>时间主要花在规则与检查器上，搜索规模与性能投入不足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806440"/>
            <a:ext cx="11055096" cy="685800"/>
          </a:xfrm>
          <a:prstGeom prst="roundRect">
            <a:avLst>
              <a:gd name="adj" fmla="val 18000"/>
            </a:avLst>
          </a:prstGeom>
          <a:solidFill>
            <a:srgbClr val="F8E8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/>
            <a:r>
              <a:rPr sz="1500" b="1">
                <a:solidFill>
                  <a:srgbClr val="B3402F"/>
                </a:solidFill>
                <a:latin typeface="微软雅黑"/>
                <a:ea typeface="微软雅黑"/>
              </a:rPr>
              <a:t>一句话：框架完整、正确性优先，但离完整 7×7 求解还有明显距离。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0528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Gomoku Formalization · 项目阶段汇报（穿插版）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510528"/>
            <a:ext cx="7772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480"/>
                </a:solidFill>
                <a:latin typeface="微软雅黑"/>
                <a:ea typeface="微软雅黑"/>
              </a:rPr>
              <a:t>19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  <a:latin typeface="微软雅黑"/>
                <a:ea typeface="微软雅黑"/>
              </a:rPr>
              <a:t>谢谢</a:t>
            </a:r>
          </a:p>
        </p:txBody>
      </p:sp>
      <p:sp>
        <p:nvSpPr>
          <p:cNvPr id="4" name="Rectangle 3"/>
          <p:cNvSpPr/>
          <p:nvPr/>
        </p:nvSpPr>
        <p:spPr>
          <a:xfrm>
            <a:off x="5641848" y="3063240"/>
            <a:ext cx="914400" cy="45720"/>
          </a:xfrm>
          <a:prstGeom prst="rect">
            <a:avLst/>
          </a:prstGeom>
          <a:solidFill>
            <a:srgbClr val="E8A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F2CE94"/>
                </a:solidFill>
                <a:latin typeface="微软雅黑"/>
                <a:ea typeface="微软雅黑"/>
              </a:rPr>
              <a:t>搜索器负责“找”，Lean 负责“证”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CFD8E8"/>
                </a:solidFill>
                <a:latin typeface="微软雅黑"/>
                <a:ea typeface="微软雅黑"/>
              </a:rPr>
              <a:t>已做：规则 · 双模式搜索器 · 两种证书 · 9 个中盘和棋局面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CFD8E8"/>
                </a:solidFill>
                <a:latin typeface="微软雅黑"/>
                <a:ea typeface="微软雅黑"/>
              </a:rPr>
              <a:t>未做：空棋盘开局求解 · 空棋盘“白防黑”（只差一环）· 大规模验证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五子棋形式化项目阶段汇报（穿插版）</dc:title>
  <dc:subject/>
  <dc:creator>Gomoku Formalization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