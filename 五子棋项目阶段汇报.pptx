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各位好，我汇报五子棋形式化项目的阶段进展。核心一句话：让一个不可信的 C++ 搜索器去找必胜策略的候选，再由 Lean 检查器重新验证；只有通过检查的，才是定理。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汇报分四部分：先讲项目是什么，再讲搜索器和验证怎么设计，然后讲目前做到什么程度，最后重点讲哪些地方还做得不好。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项目用 Lean 4 形式化固定规则的五子棋：7×7 棋盘、五连即胜、黑棋先手、无禁手，长连也算胜。我们做三件事：形式化规则本身、写搜索器找必胜策略、让所有结论都经过Lean 检查器确认。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为什么需要搜索器？49 个点的博弈树是天文数字，手工推演不可能。但程序又会犯错，不能把程序结果直接当结论。于是分工：搜索器找候选，Lean 出定理。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搜索器要找的是一棵必胜策略树。目标方回合是 OR 节点，找到一个能赢的着法就行；对手回合是 AND 节点，每个合法应手都要有胜子树，漏一个就失败。叶子必须是真实胜局，和棋、输棋、搜索耗尽都不算赢。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搜索器用 C++ 实现，有两条流水线。模式 A 是强制胜搜索：输入局面后，DFPN 主搜索负责证明数搜索，VCF 快攻负责连续冲四检测，产出 CompactCertificate 候选证书，再导出成 Lean 源码。模式 B 是防守证明：用 DefenseSearcher 做完整 AND/OR 搜索，目标是对给定的攻击方证明防守方能阻止其获胜，状态严格区分 found、refuted 和 unknown，产出 DefenseCertificate。两条流水线都有置换表、迭代加深、资源上限等组件，产出的都只是候选数据。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DFPN 是核心算法。每个节点记录两个数：证明数 pn，证明它必胜还要展开多少节点；反证数 dn，证明它必败还要多少节点。每次优先展开 pn 或 dn 最小的节点，把预算花在最可能的分支上。它深度优先、内存友好，还能直接输出证明路径。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VCF 是连续冲四快攻。冲四就是再下一子就成五，对手必须立刻防守；连续冲四直到成五，就是一条杀棋路线。VCF 有独立预算，攻不下来就退回 DFPN 做全局面搜索。注意：VCF 找到的路线依然是候选，要过检查器。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两个加速技巧。威胁排序：着法按威胁从高到低排，成五优先、堵五其次，先搜最有希望的分支；Lean 证明过排序不会引入非法着法。强制防守剪枝：目标方回合如果已经有成五或堵五的着法，就只搜这些。两者只影响速度，不影响正确性。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搜索有各种资源上限：深度、节点数、置换表大小、证书节点数。状态分五种：found 是找到候选证书，其余都是没找到。最关键的纪律：搜不到不等于必败，只能说本次资源下没有找到证据，绝不能写成和棋或必败。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搜索器有两种输出协议。模式 A 的 CompactCertificate 有三种节点：terminal 是胜利叶子，proverMove 是目标方选一个着法，opponentMoves 是列出对手全部应手。模式 B 的 DefenseCertificate 对应防守语义：terminal 叶子必须是防守方胜或和棋，defenderMove 是防守方选一个保持防守的着法，attackerMoves 是覆盖攻击方的全部合法应手，漏一个就整张被拒。编号规则都是父节点小于子节点，自环和回边一律拒绝。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这是整个设计最核心的地方。左边这些——搜索算法、启发式、剪枝、缓存、C++ 预检——全部不可信，只生成候选。右边 Lean 检查器把每个节点重新检查：checkCertificate 和 checkDefenseCertificateAt 重算终局、验证合法着法、验证子局面、检查攻击方全覆盖，通过之后才得到 CanForceWin 或 CanPreventWin 定理。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验收按四步走。一步胜、两个应手、防御证书链和中盘和棋四步都已经打通：防御证书链包括 --prove 模式、DefenseCertificate 和 Lean 检查器，中盘和棋给出了 9 个机器验证的 StandardDraw 局面。整体上框架是完整的。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接下来进入第四个部分：9 个机器验证的 7×7 和棋局面。核心纪律不变：C++ 搜索器只负责找候选证书，是否成立完全由 Lean 检查器决定。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每个局面的验证分四步：先构造一个每个长度5窗口都同时含黑白两子的局面，然后 C++ 分别搜索白防黑和黑防白两张防守证书，Lean 检查器逐节点重算，最后用 soundness 定理组合出 StandardDraw。九个局面、五项断言全部通过。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局面一：Draw7x7，最初的种子。21黑21白，7个空格，轮到黑方。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局面二：Draw7x7s2，随机化移除顺序得到的第二个种子。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局面三：Draw7x7s3。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局面四：Draw7x7s4。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局面五：Draw7x7s5。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局面六：Draw7x7s6。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局面七：Draw7x7s7。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局面八：Draw7x7s8。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局面九：Draw7x7s9。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汇总：九个局面的两张证书全部通过 Lean 检查，每个局面都得到了 StandardDraw 定理。需要说明：这些是特定的中盘局面，空棋盘的和棋定理仍然是开放目标。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但必须坦率地说，还有明显缺口。第一，空棋盘开局求解没有完成，不能宣称黑棋先手必胜；第二，空棋盘和棋还没有证明，目前只有中盘局面的和棋；第三，缓存已经定义好，但还没接入默认搜索流程；第四，目前只在一步胜、双应手和中盘和棋这些局面上验证过，规模没有跑起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上也有问题：搜索参数用的是保守默认值，没有系统调优；证书大小、检查耗时、缓存命中率这些基准数据都没有记录；导出到复检的链路还要手工跑，自动化不够；时间主要花在保证正确性上，性能投入不足。一句话：框架完整，但离完整 7×7 求解还有明显距离。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总结：搜索器负责找，Lean 负责证。已经做的是规则、证书检查链、搜索器、示例复检，以及 9 个中盘和棋局面；没有做的是空棋盘开局求解、空棋盘和棋、大规模验证。谢谢大家，欢迎提问。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51560"/>
            <a:ext cx="8686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微软雅黑"/>
                <a:ea typeface="微软雅黑"/>
              </a:rPr>
              <a:t>GOMOKU FORMALIZATION · 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86868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微软雅黑"/>
                <a:ea typeface="微软雅黑"/>
              </a:rPr>
              <a:t>五子棋形式化项目 · 阶段汇报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D8E8"/>
                </a:solidFill>
                <a:latin typeface="微软雅黑"/>
                <a:ea typeface="微软雅黑"/>
              </a:rPr>
              <a:t>搜索器 · 证书检查 · 现状与不足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840480"/>
            <a:ext cx="2377440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CE94"/>
                </a:solidFill>
                <a:latin typeface="微软雅黑"/>
                <a:ea typeface="微软雅黑"/>
              </a:rPr>
              <a:t>不可信搜索器找候选  ·  Lean 检查器出定理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E9BB8"/>
                </a:solidFill>
                <a:latin typeface="微软雅黑"/>
                <a:ea typeface="微软雅黑"/>
              </a:rPr>
              <a:t>Lean 4 · C++17 DFPN/VCF · CompactCertificate 证书检查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0" y="1463039"/>
            <a:ext cx="3291840" cy="3291840"/>
          </a:xfrm>
          <a:prstGeom prst="roundRect">
            <a:avLst>
              <a:gd name="adj" fmla="val 8000"/>
            </a:avLst>
          </a:prstGeom>
          <a:solidFill>
            <a:srgbClr val="F0D9B0"/>
          </a:solidFill>
          <a:ln w="15240">
            <a:solidFill>
              <a:srgbClr val="9A7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503920" y="1554480"/>
            <a:ext cx="3108960" cy="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503920" y="1554480"/>
            <a:ext cx="0" cy="310896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503920" y="1998617"/>
            <a:ext cx="3108960" cy="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948057" y="1554480"/>
            <a:ext cx="0" cy="310896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503920" y="2442754"/>
            <a:ext cx="3108960" cy="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92194" y="1554480"/>
            <a:ext cx="0" cy="310896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503920" y="2886891"/>
            <a:ext cx="3108960" cy="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36331" y="1554480"/>
            <a:ext cx="0" cy="310896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503920" y="3331028"/>
            <a:ext cx="3108960" cy="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280468" y="1554480"/>
            <a:ext cx="0" cy="310896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503920" y="3775165"/>
            <a:ext cx="3108960" cy="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0724605" y="1554480"/>
            <a:ext cx="0" cy="310896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503920" y="4219302"/>
            <a:ext cx="3108960" cy="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68742" y="1554480"/>
            <a:ext cx="0" cy="310896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8503920" y="4663440"/>
            <a:ext cx="3108960" cy="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1612880" y="1554480"/>
            <a:ext cx="0" cy="3108960"/>
          </a:xfrm>
          <a:prstGeom prst="line">
            <a:avLst/>
          </a:prstGeom>
          <a:ln w="12700">
            <a:solidFill>
              <a:srgbClr val="9A7B4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10026396" y="3076956"/>
            <a:ext cx="64008" cy="64008"/>
          </a:xfrm>
          <a:prstGeom prst="ellipse">
            <a:avLst/>
          </a:prstGeom>
          <a:solidFill>
            <a:srgbClr val="9A7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992470" y="2931305"/>
            <a:ext cx="355309" cy="355309"/>
          </a:xfrm>
          <a:prstGeom prst="ellipse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436608" y="2931305"/>
            <a:ext cx="355309" cy="355309"/>
          </a:xfrm>
          <a:prstGeom prst="ellipse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80745" y="2931305"/>
            <a:ext cx="355309" cy="355309"/>
          </a:xfrm>
          <a:prstGeom prst="ellipse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324882" y="2931305"/>
            <a:ext cx="355309" cy="355309"/>
          </a:xfrm>
          <a:prstGeom prst="ellipse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769019" y="2931305"/>
            <a:ext cx="355309" cy="355309"/>
          </a:xfrm>
          <a:prstGeom prst="ellipse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48333" y="2043030"/>
            <a:ext cx="355309" cy="3553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213156" y="3819579"/>
            <a:ext cx="355309" cy="35530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B8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207008"/>
            <a:ext cx="10058400" cy="1078992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207008"/>
            <a:ext cx="1078992" cy="10789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1078992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8A33D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335024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微软雅黑"/>
                <a:ea typeface="微软雅黑"/>
              </a:rPr>
              <a:t>项目概览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828800"/>
            <a:ext cx="8412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480"/>
                </a:solidFill>
                <a:latin typeface="微软雅黑"/>
                <a:ea typeface="微软雅黑"/>
              </a:rPr>
              <a:t>规则 · 架构 · 搜索语义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286000"/>
            <a:ext cx="10058400" cy="1078992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86000"/>
            <a:ext cx="1078992" cy="10789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86000"/>
            <a:ext cx="1078992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8A33D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414016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微软雅黑"/>
                <a:ea typeface="微软雅黑"/>
              </a:rPr>
              <a:t>搜索器与验证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907792"/>
            <a:ext cx="8412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480"/>
                </a:solidFill>
                <a:latin typeface="微软雅黑"/>
                <a:ea typeface="微软雅黑"/>
              </a:rPr>
              <a:t>算法 · 证书 · 可信边界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364991"/>
            <a:ext cx="10058400" cy="1078992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3364991"/>
            <a:ext cx="1078992" cy="10789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64991"/>
            <a:ext cx="1078992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8A33D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93008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微软雅黑"/>
                <a:ea typeface="微软雅黑"/>
              </a:rPr>
              <a:t>已完成成果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986783"/>
            <a:ext cx="8412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480"/>
                </a:solidFill>
                <a:latin typeface="微软雅黑"/>
                <a:ea typeface="微软雅黑"/>
              </a:rPr>
              <a:t>做到什么程度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443984"/>
            <a:ext cx="10058400" cy="1078992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4443984"/>
            <a:ext cx="1078992" cy="10789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443984"/>
            <a:ext cx="1078992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8A33D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72000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微软雅黑"/>
                <a:ea typeface="微软雅黑"/>
              </a:rPr>
              <a:t>和棋局面验证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5065776"/>
            <a:ext cx="8412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480"/>
                </a:solidFill>
                <a:latin typeface="微软雅黑"/>
                <a:ea typeface="微软雅黑"/>
              </a:rPr>
              <a:t>9 个局面 · 机器验证 · 棋盘图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5522976"/>
            <a:ext cx="10058400" cy="1078992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" y="5522976"/>
            <a:ext cx="1078992" cy="1078992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522976"/>
            <a:ext cx="1078992" cy="10789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000" b="1">
                <a:solidFill>
                  <a:srgbClr val="E8A33D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650992"/>
            <a:ext cx="84124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2A4A"/>
                </a:solidFill>
                <a:latin typeface="微软雅黑"/>
                <a:ea typeface="微软雅黑"/>
              </a:rPr>
              <a:t>不足与反思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6144768"/>
            <a:ext cx="8412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7480"/>
                </a:solidFill>
                <a:latin typeface="微软雅黑"/>
                <a:ea typeface="微软雅黑"/>
              </a:rPr>
              <a:t>哪些地方还做得不好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项目是什么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25880"/>
            <a:ext cx="2679192" cy="65836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棋盘 7 ×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25880"/>
            <a:ext cx="2679192" cy="65836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五连即胜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325880"/>
            <a:ext cx="2679192" cy="65836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黑棋先手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53144" y="1325880"/>
            <a:ext cx="2679192" cy="65836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无禁手 · 长连也算胜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/>
                <a:ea typeface="微软雅黑"/>
              </a:rPr>
              <a:t>项目做的三件事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71800"/>
            <a:ext cx="3593592" cy="237744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971800"/>
            <a:ext cx="3593592" cy="658368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71800"/>
            <a:ext cx="35935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形式化规则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93192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2B2B2B"/>
                </a:solidFill>
                <a:latin typeface="微软雅黑"/>
                <a:ea typeface="微软雅黑"/>
              </a:rPr>
              <a:t>用 Lean 4 定义棋盘、走法与胜负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971800"/>
            <a:ext cx="3593592" cy="237744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971800"/>
            <a:ext cx="3593592" cy="658368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35935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搜索策略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93192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2B2B2B"/>
                </a:solidFill>
                <a:latin typeface="微软雅黑"/>
                <a:ea typeface="微软雅黑"/>
              </a:rPr>
              <a:t>用搜索器寻找“黑棋必胜策略树”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1" y="2971800"/>
            <a:ext cx="3593592" cy="237744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1" y="2971800"/>
            <a:ext cx="3593592" cy="658368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2971800"/>
            <a:ext cx="35935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验证结论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93192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2B2B2B"/>
                </a:solidFill>
                <a:latin typeface="微软雅黑"/>
                <a:ea typeface="微软雅黑"/>
              </a:rPr>
              <a:t>一切结论都要经过 Lean 检查器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为什么需要搜索器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593592" cy="26060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① 博弈树太大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97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49 个点，手工推演不可能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93592" cy="2606040"/>
          </a:xfrm>
          <a:prstGeom prst="roundRect">
            <a:avLst>
              <a:gd name="adj" fmla="val 8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② 程序会犯错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搜索结论不能直接当定理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1554480"/>
            <a:ext cx="3593592" cy="260604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659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③ 于是分工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697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搜索器“找候选”，Lean“出定理”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80060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搜索器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找候选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80560" y="5303520"/>
            <a:ext cx="777240" cy="0"/>
          </a:xfrm>
          <a:prstGeom prst="line">
            <a:avLst/>
          </a:prstGeom>
          <a:ln w="3048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480060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证书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候选数据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5303520"/>
            <a:ext cx="777240" cy="0"/>
          </a:xfrm>
          <a:prstGeom prst="line">
            <a:avLst/>
          </a:prstGeom>
          <a:ln w="3048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0" y="480060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Lean 检查器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出定理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搜索语义：必胜策略树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AND / OR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3291840" cy="960120"/>
          </a:xfrm>
          <a:prstGeom prst="roundRect">
            <a:avLst>
              <a:gd name="adj" fmla="val 15000"/>
            </a:avLst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我方回合  ·  OR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找一个能赢的着法即可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611880"/>
            <a:ext cx="3291840" cy="960120"/>
          </a:xfrm>
          <a:prstGeom prst="roundRect">
            <a:avLst>
              <a:gd name="adj" fmla="val 15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对手回合  ·  AND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每个合法应手都要赢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743200"/>
            <a:ext cx="0" cy="86868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13232" y="5257800"/>
            <a:ext cx="914400" cy="658368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胜局 ✓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170432" y="4572000"/>
            <a:ext cx="1389888" cy="685800"/>
          </a:xfrm>
          <a:prstGeom prst="line">
            <a:avLst/>
          </a:prstGeom>
          <a:ln w="2286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55648" y="5257800"/>
            <a:ext cx="914400" cy="658368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胜局 ✓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212848" y="4572000"/>
            <a:ext cx="347472" cy="685800"/>
          </a:xfrm>
          <a:prstGeom prst="line">
            <a:avLst/>
          </a:prstGeom>
          <a:ln w="2286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98063" y="5257800"/>
            <a:ext cx="914400" cy="658368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胜局 ✓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0320" y="4572000"/>
            <a:ext cx="694943" cy="685800"/>
          </a:xfrm>
          <a:prstGeom prst="line">
            <a:avLst/>
          </a:prstGeom>
          <a:ln w="2286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840480" y="5257800"/>
            <a:ext cx="914400" cy="658368"/>
          </a:xfrm>
          <a:prstGeom prst="roundRect">
            <a:avLst>
              <a:gd name="adj" fmla="val 20000"/>
            </a:avLst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漏应手 ✗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4572000"/>
            <a:ext cx="1737360" cy="685800"/>
          </a:xfrm>
          <a:prstGeom prst="line">
            <a:avLst/>
          </a:prstGeom>
          <a:ln w="22860">
            <a:solidFill>
              <a:srgbClr val="B3402F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13232" y="6035040"/>
            <a:ext cx="3657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0">
                <a:solidFill>
                  <a:srgbClr val="6B7480"/>
                </a:solidFill>
                <a:latin typeface="微软雅黑"/>
                <a:ea typeface="微软雅黑"/>
              </a:rPr>
              <a:t>对手有几个合法应手，就要展开几个分支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83480" y="187451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4960" y="182880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1">
                <a:solidFill>
                  <a:srgbClr val="2B2B2B"/>
                </a:solidFill>
                <a:latin typeface="微软雅黑"/>
                <a:ea typeface="微软雅黑"/>
              </a:rPr>
              <a:t>目标方回合：找到一个成功着法即可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83480" y="274320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0" y="269748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1">
                <a:solidFill>
                  <a:srgbClr val="2B2B2B"/>
                </a:solidFill>
                <a:latin typeface="微软雅黑"/>
                <a:ea typeface="微软雅黑"/>
              </a:rPr>
              <a:t>对手回合：所有应手都要有胜子树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361187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356616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1">
                <a:solidFill>
                  <a:srgbClr val="2B2B2B"/>
                </a:solidFill>
                <a:latin typeface="微软雅黑"/>
                <a:ea typeface="微软雅黑"/>
              </a:rPr>
              <a:t>叶子：真实胜局，由检查器重算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983480" y="4480559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443484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50" b="1">
                <a:solidFill>
                  <a:srgbClr val="2B2B2B"/>
                </a:solidFill>
                <a:latin typeface="微软雅黑"/>
                <a:ea typeface="微软雅黑"/>
              </a:rPr>
              <a:t>和棋 / 输棋 / 搜索耗尽 ≠ 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557784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这就是 </a:t>
            </a:r>
            <a:r>
              <a:rPr sz="1500" b="1">
                <a:solidFill>
                  <a:srgbClr val="3B5998"/>
                </a:solidFill>
                <a:latin typeface="微软雅黑"/>
                <a:ea typeface="微软雅黑"/>
              </a:rPr>
              <a:t>CanForceWin</a:t>
            </a: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 的数学含义：搜索器只生成数据，证明由 Lean 决定。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搜索器整体架构：双模式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Architecture · C++17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11055096" cy="56692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模式 A · 强制胜搜索</a:t>
            </a:r>
          </a:p>
          <a:p>
            <a:pPr algn="ctr"/>
            <a:r>
              <a:rPr sz="1250" b="0">
                <a:solidFill>
                  <a:srgbClr val="CFD8E8"/>
                </a:solidFill>
                <a:latin typeface="微软雅黑"/>
                <a:ea typeface="微软雅黑"/>
              </a:rPr>
              <a:t>目标：找到“某方能强制获胜”的策略树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6596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输入局面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7×7 + 轮到谁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2" y="246888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196596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DFPN 主搜索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证明数优先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01184" y="246888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85232" y="196596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VCF 快攻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连续冲四检测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0336" y="2468880"/>
            <a:ext cx="384047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44383" y="196596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候选证书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CompactCertificate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19488" y="246888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03536" y="196596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导出 Lean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def certificate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00400"/>
            <a:ext cx="11055096" cy="566928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模式 B · 防守证明</a:t>
            </a:r>
          </a:p>
          <a:p>
            <a:pPr algn="ctr"/>
            <a:r>
              <a:rPr sz="1250" b="0">
                <a:solidFill>
                  <a:srgbClr val="CFD8E8"/>
                </a:solidFill>
                <a:latin typeface="微软雅黑"/>
                <a:ea typeface="微软雅黑"/>
              </a:rPr>
              <a:t>目标：证明“防守方能阻止对方获胜”（--prove prevent-black-win | prevent-white-win）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93192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输入局面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--input / --root empty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42032" y="443484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26080" y="393192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DefenseSearcher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完整 AND/OR 搜索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01184" y="443484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85232" y="393192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严格传播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found / refuted / unknown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60336" y="4434840"/>
            <a:ext cx="384047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44383" y="393192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候选证书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DefenseCertificate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19488" y="443484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03536" y="393192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导出 Lean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def certificate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57800"/>
            <a:ext cx="2679192" cy="548640"/>
          </a:xfrm>
          <a:prstGeom prst="roundRect">
            <a:avLst>
              <a:gd name="adj" fmla="val 5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置换表 / Zobrist 局面键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5257800"/>
            <a:ext cx="2679192" cy="548640"/>
          </a:xfrm>
          <a:prstGeom prst="roundRect">
            <a:avLst>
              <a:gd name="adj" fmla="val 5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迭代加深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5257800"/>
            <a:ext cx="2679192" cy="548640"/>
          </a:xfrm>
          <a:prstGeom prst="roundRect">
            <a:avLst>
              <a:gd name="adj" fmla="val 5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资源上限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53144" y="5257800"/>
            <a:ext cx="2679192" cy="548640"/>
          </a:xfrm>
          <a:prstGeom prst="roundRect">
            <a:avLst>
              <a:gd name="adj" fmla="val 5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证书预检（仅诊断）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989320"/>
            <a:ext cx="11055096" cy="50292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C98A2D"/>
                </a:solidFill>
                <a:latin typeface="微软雅黑"/>
                <a:ea typeface="微软雅黑"/>
              </a:rPr>
              <a:t>两条流水线都只产生“候选数据”：任何算法、启发式、缓存都不能直接当结论，最终由 Lean 检查器验证。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核心算法 ①：DFPN 证明数搜索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DFPN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593592" cy="6858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35935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证明数 pn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40280"/>
            <a:ext cx="3593592" cy="26517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60604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4203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证明必胜还需展开的节点数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33375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27355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pn 越小 → 越接近证明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593592" cy="68580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54480"/>
            <a:ext cx="35935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反证数 dn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240280"/>
            <a:ext cx="3593592" cy="26517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60604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6904" y="254203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证明必败还需展开的节点数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3375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327355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dn 越小 → 分支越该放弃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1" y="1554480"/>
            <a:ext cx="359359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1554480"/>
            <a:ext cx="35935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选择策略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2240280"/>
            <a:ext cx="3593592" cy="26517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39911" y="260604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23376" y="254203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优先展开 pn / dn 最小的节点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9911" y="33375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23376" y="327355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深度优先，内存友好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9911" y="406908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23376" y="400507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输出证明路径 → 便于生成证书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21208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把预算花在“最可能证明成功”的分支上；阈值可调：maxDepth / maxNodes / maxVcfDepth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核心算法 ②：VCF 连续冲四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VCF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冲四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67128" y="1920240"/>
            <a:ext cx="51206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79192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对手被迫防守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79392" y="1920240"/>
            <a:ext cx="51206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91456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再冲四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91656" y="1920240"/>
            <a:ext cx="51206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03720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对手被迫防守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20" y="1920240"/>
            <a:ext cx="51206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15984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成五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606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6B7480"/>
                </a:solidFill>
                <a:latin typeface="微软雅黑"/>
                <a:ea typeface="微软雅黑"/>
              </a:rPr>
              <a:t>冲四：再下一子即成五连，对手必须立刻防守 —— 连续冲四直到成五，就是一条杀棋路线。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9184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3B5998"/>
                </a:solidFill>
                <a:latin typeface="微软雅黑"/>
                <a:ea typeface="微软雅黑"/>
              </a:rPr>
              <a:t>为什么有用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078224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02336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攻击端：快速找到杀棋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473659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681728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防守端：应手骤减，搜索变小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5394959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340096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结果仍要交给检查器复检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29184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520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3B5998"/>
                </a:solidFill>
                <a:latin typeface="微软雅黑"/>
                <a:ea typeface="微软雅黑"/>
              </a:rPr>
              <a:t>工程要点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6248" y="4078224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402336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独立预算：maxVcfDepth / maxVcfNodes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473659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4681728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与 DFPN 配合：先试快攻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6248" y="5394959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5340096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攻不下来再回到全局面搜索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加速技巧：让搜索更快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Optimizations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60" cy="34290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3B5998"/>
                </a:solidFill>
                <a:latin typeface="微软雅黑"/>
                <a:ea typeface="微软雅黑"/>
              </a:rPr>
              <a:t>威胁排序 Threat Ordering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2569464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51460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按威胁从高到低先搜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322783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172968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成五 &gt; 活四 &gt; 冲四 &gt; 活三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3886199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831335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更快找到杀棋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454456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489704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Lean 已证明留下的着法合法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54480"/>
            <a:ext cx="5394960" cy="3429000"/>
          </a:xfrm>
          <a:prstGeom prst="roundRect">
            <a:avLst>
              <a:gd name="adj" fmla="val 6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3B5998"/>
                </a:solidFill>
                <a:latin typeface="微软雅黑"/>
                <a:ea typeface="微软雅黑"/>
              </a:rPr>
              <a:t>强制防守剪枝 Forced-Move Pruning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6248" y="2569464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251460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对手被逼时合法应手很少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6248" y="322783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172968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只展开必要应手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6248" y="3886199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3831335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大幅缩小 AND 分支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6248" y="454456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4489704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配置：useForcedMovePruning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5780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两者只影响“找候选”的速度，不改变可信边界 —— 结果依旧要过 Lean 检查器。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资源控制：搜不到 ≠ 必败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Honest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80160"/>
            <a:ext cx="2679192" cy="62179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深度上限 maxDepth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679192" cy="62179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节点预算 maxNodes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280160"/>
            <a:ext cx="2679192" cy="62179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置换表上限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53144" y="1280160"/>
            <a:ext cx="2679192" cy="62179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证书节点上限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108960" cy="713232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E7D4F"/>
                </a:solidFill>
                <a:latin typeface="微软雅黑"/>
                <a:ea typeface="微软雅黑"/>
              </a:rPr>
              <a:t>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286000"/>
            <a:ext cx="3566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找到候选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86000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480"/>
                </a:solidFill>
                <a:latin typeface="微软雅黑"/>
                <a:ea typeface="微软雅黑"/>
              </a:rPr>
              <a:t>交给 Lean 检查器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27248"/>
            <a:ext cx="3108960" cy="713232"/>
          </a:xfrm>
          <a:prstGeom prst="roundRect">
            <a:avLst>
              <a:gd name="adj" fmla="val 15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27248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3402F"/>
                </a:solidFill>
                <a:latin typeface="微软雅黑"/>
                <a:ea typeface="微软雅黑"/>
              </a:rPr>
              <a:t>depthLimit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127248"/>
            <a:ext cx="3566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深度耗尽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27248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480"/>
                </a:solidFill>
                <a:latin typeface="微软雅黑"/>
                <a:ea typeface="微软雅黑"/>
              </a:rPr>
              <a:t>无证书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68496"/>
            <a:ext cx="3108960" cy="713232"/>
          </a:xfrm>
          <a:prstGeom prst="roundRect">
            <a:avLst>
              <a:gd name="adj" fmla="val 15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68496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3402F"/>
                </a:solidFill>
                <a:latin typeface="微软雅黑"/>
                <a:ea typeface="微软雅黑"/>
              </a:rPr>
              <a:t>nodeLimit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968496"/>
            <a:ext cx="3566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节点耗尽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968496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480"/>
                </a:solidFill>
                <a:latin typeface="微软雅黑"/>
                <a:ea typeface="微软雅黑"/>
              </a:rPr>
              <a:t>无证书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809744"/>
            <a:ext cx="3108960" cy="713232"/>
          </a:xfrm>
          <a:prstGeom prst="roundRect">
            <a:avLst>
              <a:gd name="adj" fmla="val 15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4809744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3402F"/>
                </a:solidFill>
                <a:latin typeface="微软雅黑"/>
                <a:ea typeface="微软雅黑"/>
              </a:rPr>
              <a:t>tableLimit / certificateLimit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4809744"/>
            <a:ext cx="3566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表上限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4809744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480"/>
                </a:solidFill>
                <a:latin typeface="微软雅黑"/>
                <a:ea typeface="微软雅黑"/>
              </a:rPr>
              <a:t>无证书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76072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有限搜索失败只表示“本次没找到证据”，绝不是和棋或必败证明；提交时须如实报告状态。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输出协议：两种证书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Output · v1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11055096" cy="5029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模式 A · CompactCertificate（强制胜）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83080"/>
            <a:ext cx="3593592" cy="5669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830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7830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胜利叶子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350008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260604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54203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局面真实获胜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299008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2926079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检查器重算胜负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" y="3374136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310127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不信任任何标签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783080"/>
            <a:ext cx="3593592" cy="566928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830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proverMove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7830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目标方回合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350008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260604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254203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选一个合法着法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99008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46904" y="2926079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指向一个子节点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374136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3310127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子局面 = play s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9871" y="1783080"/>
            <a:ext cx="3593592" cy="566928"/>
          </a:xfrm>
          <a:prstGeom prst="rect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178308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opponentMoves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178308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对手回合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1" y="2350008"/>
            <a:ext cx="3593592" cy="141732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39911" y="260604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23376" y="254203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列出全部合法应手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39911" y="299008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23376" y="2926079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每个应手一个子节点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9911" y="3374136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3376" y="3310127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漏一个 → 整张被拒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023360"/>
            <a:ext cx="11055096" cy="5029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模式 B · DefenseCertificate（防守证明）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617720"/>
            <a:ext cx="3593592" cy="56692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461772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terminal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95728" y="461772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终局叶子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184648"/>
            <a:ext cx="3593592" cy="1051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6968" y="537667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32" y="531266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结果为防守方胜或和棋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" y="576072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0432" y="569671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攻击方胜的叶子被拒绝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4617720"/>
            <a:ext cx="3593592" cy="566928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461772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defenderMove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61772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防守方回合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3400" y="5184648"/>
            <a:ext cx="3593592" cy="1051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63440" y="537667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46904" y="531266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选一个保持防守的着法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576072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46904" y="569671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指向一个子节点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19871" y="4617720"/>
            <a:ext cx="3593592" cy="566928"/>
          </a:xfrm>
          <a:prstGeom prst="rect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94192" y="4617720"/>
            <a:ext cx="210312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attackerMoves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8672" y="4617720"/>
            <a:ext cx="17373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攻击方回合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19871" y="5184648"/>
            <a:ext cx="3593592" cy="1051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9911" y="537667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23376" y="5312664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覆盖全部合法应手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9911" y="576072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23376" y="5696712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2B2B2B"/>
                </a:solidFill>
                <a:latin typeface="微软雅黑"/>
                <a:ea typeface="微软雅黑"/>
              </a:rPr>
              <a:t>漏一个 → 整张被拒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6355080"/>
            <a:ext cx="11055096" cy="384048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C98A2D"/>
                </a:solidFill>
                <a:latin typeface="微软雅黑"/>
                <a:ea typeface="微软雅黑"/>
              </a:rPr>
              <a:t>编号规则：数组下标即编号，parent &lt; child；两种证书都推荐先序布局。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设计核心：可信边界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Trust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4709160" cy="356616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不可信：搜索器输出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560320"/>
            <a:ext cx="146304" cy="146304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96312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C++ 搜索器（DFPN / VCF / DefenseSearcher）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3182112"/>
            <a:ext cx="146304" cy="146304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118104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启发式与剪枝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3803904"/>
            <a:ext cx="146304" cy="146304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39896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置换表与各种缓存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4425696"/>
            <a:ext cx="146304" cy="146304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61688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C++ 预检（仅诊断）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1600200"/>
            <a:ext cx="4709160" cy="3566160"/>
          </a:xfrm>
          <a:prstGeom prst="roundRect">
            <a:avLst>
              <a:gd name="adj" fmla="val 8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14616" y="1874519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E7D4F"/>
                </a:solidFill>
                <a:latin typeface="微软雅黑"/>
                <a:ea typeface="微软雅黑"/>
              </a:rPr>
              <a:t>可信：Lean 检查器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2048" y="2560320"/>
            <a:ext cx="146304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4656" y="2496312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checkCertificate / checkDefenseCertificateAt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2048" y="3182112"/>
            <a:ext cx="146304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6" y="3118104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重算终局胜负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3803904"/>
            <a:ext cx="146304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3739896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验证合法性与子局面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2048" y="4425696"/>
            <a:ext cx="146304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4656" y="4361688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攻击方全应手覆盖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76088" y="3383280"/>
            <a:ext cx="1636776" cy="0"/>
          </a:xfrm>
          <a:prstGeom prst="line">
            <a:avLst/>
          </a:prstGeom>
          <a:ln w="3302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93792" y="26517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7480"/>
                </a:solidFill>
                <a:latin typeface="微软雅黑"/>
                <a:ea typeface="微软雅黑"/>
              </a:rPr>
              <a:t>重新检查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920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3402F"/>
                </a:solidFill>
                <a:latin typeface="微软雅黑"/>
                <a:ea typeface="微软雅黑"/>
              </a:rPr>
              <a:t>→ 只生成候选，可以出错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48920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微软雅黑"/>
                <a:ea typeface="微软雅黑"/>
              </a:rPr>
              <a:t>→ 通过 → CanForceWin 定理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3212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搜索器可以犯错，检查器不放错；通过检查的证书才是定理。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已完成：做到什么程度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Results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487168" cy="658368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① 一步胜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2487168" cy="28803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5528" y="2395728"/>
            <a:ext cx="2029968" cy="457200"/>
          </a:xfrm>
          <a:prstGeom prst="roundRect">
            <a:avLst>
              <a:gd name="adj" fmla="val 2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8" y="2395728"/>
            <a:ext cx="2029968" cy="457200"/>
          </a:xfrm>
          <a:prstGeom prst="roundRect">
            <a:avLst>
              <a:gd name="adj" fmla="val 2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已完成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8" y="31089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3035808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2B2B"/>
                </a:solidFill>
                <a:latin typeface="微软雅黑"/>
                <a:ea typeface="微软雅黑"/>
              </a:rPr>
              <a:t>四连局面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388620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3813048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2B2B"/>
                </a:solidFill>
                <a:latin typeface="微软雅黑"/>
                <a:ea typeface="微软雅黑"/>
              </a:rPr>
              <a:t>证书检查通过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54096" y="1883664"/>
            <a:ext cx="42062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474720" y="1554480"/>
            <a:ext cx="2487168" cy="658368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② 两个应手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212848"/>
            <a:ext cx="2487168" cy="28803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703320" y="2395728"/>
            <a:ext cx="2029968" cy="457200"/>
          </a:xfrm>
          <a:prstGeom prst="roundRect">
            <a:avLst>
              <a:gd name="adj" fmla="val 2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703320" y="2395728"/>
            <a:ext cx="2029968" cy="457200"/>
          </a:xfrm>
          <a:prstGeom prst="roundRect">
            <a:avLst>
              <a:gd name="adj" fmla="val 2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已完成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03320" y="31089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3035808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2B2B"/>
                </a:solidFill>
                <a:latin typeface="微软雅黑"/>
                <a:ea typeface="微软雅黑"/>
              </a:rPr>
              <a:t>AND 根节点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388620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77640" y="3813048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2B2B"/>
                </a:solidFill>
                <a:latin typeface="微软雅黑"/>
                <a:ea typeface="微软雅黑"/>
              </a:rPr>
              <a:t>证书检查通过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61888" y="1883664"/>
            <a:ext cx="42062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82512" y="1554480"/>
            <a:ext cx="2487168" cy="658368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③ 防御证书链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82512" y="2212848"/>
            <a:ext cx="2487168" cy="28803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611112" y="2395728"/>
            <a:ext cx="2029968" cy="457200"/>
          </a:xfrm>
          <a:prstGeom prst="roundRect">
            <a:avLst>
              <a:gd name="adj" fmla="val 2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11112" y="2395728"/>
            <a:ext cx="2029968" cy="457200"/>
          </a:xfrm>
          <a:prstGeom prst="roundRect">
            <a:avLst>
              <a:gd name="adj" fmla="val 2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已完成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11112" y="31089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3035808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2B2B"/>
                </a:solidFill>
                <a:latin typeface="微软雅黑"/>
                <a:ea typeface="微软雅黑"/>
              </a:rPr>
              <a:t>--prove 模式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11112" y="388620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85432" y="3813048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2B2B"/>
                </a:solidFill>
                <a:latin typeface="微软雅黑"/>
                <a:ea typeface="微软雅黑"/>
              </a:rPr>
              <a:t>DefenseCertificate + 检查器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69680" y="1883664"/>
            <a:ext cx="42062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90304" y="1554480"/>
            <a:ext cx="2487168" cy="658368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④ 中盘和棋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290304" y="2212848"/>
            <a:ext cx="2487168" cy="28803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18904" y="2395728"/>
            <a:ext cx="2029968" cy="457200"/>
          </a:xfrm>
          <a:prstGeom prst="roundRect">
            <a:avLst>
              <a:gd name="adj" fmla="val 2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18904" y="2395728"/>
            <a:ext cx="2029968" cy="457200"/>
          </a:xfrm>
          <a:prstGeom prst="roundRect">
            <a:avLst>
              <a:gd name="adj" fmla="val 2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已完成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518904" y="31089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93224" y="3035808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2B2B"/>
                </a:solidFill>
                <a:latin typeface="微软雅黑"/>
                <a:ea typeface="微软雅黑"/>
              </a:rPr>
              <a:t>9 个局面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18904" y="388620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93224" y="3813048"/>
            <a:ext cx="1874519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>
                <a:solidFill>
                  <a:srgbClr val="2B2B2B"/>
                </a:solidFill>
                <a:latin typeface="微软雅黑"/>
                <a:ea typeface="微软雅黑"/>
              </a:rPr>
              <a:t>StandardDraw 定理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539496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全部成果以 Lean 复检通过为准：一步胜 / 双应手 / 防御证书链 / 中盘和棋。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8A33D"/>
                </a:solidFill>
                <a:latin typeface="微软雅黑"/>
                <a:ea typeface="微软雅黑"/>
              </a:rPr>
              <a:t>04 · VERIFIED DRAW POSITIONS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/>
                <a:ea typeface="微软雅黑"/>
              </a:rPr>
              <a:t>9 个机器验证的 7×7 和棋局面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CFD8E8"/>
                </a:solidFill>
                <a:latin typeface="微软雅黑"/>
                <a:ea typeface="微软雅黑"/>
              </a:rPr>
              <a:t>每个局面：21 黑 + 21 白 · 轮到黑方 · 7 个空格 · 双方都无法成五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480560"/>
            <a:ext cx="2377440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F2CE94"/>
                </a:solidFill>
                <a:latin typeface="微软雅黑"/>
                <a:ea typeface="微软雅黑"/>
              </a:rPr>
              <a:t>不可信搜索器找证书 → Lean 检查器逐节点重算 → StandardDraw 定理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和棋是怎么验证的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Trust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① 构造局面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每个长度 5 窗口都含黑白两子
→ 任何一方永远无法成五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72968" y="2258568"/>
            <a:ext cx="393192" cy="0"/>
          </a:xfrm>
          <a:prstGeom prst="line">
            <a:avLst/>
          </a:prstGeom>
          <a:ln w="25400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② C++ 找证书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白防黑 + 黑防白 两张防守证书
(搜索器不可信, 只出候选)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72200" y="2258568"/>
            <a:ext cx="393192" cy="0"/>
          </a:xfrm>
          <a:prstGeom prst="line">
            <a:avLst/>
          </a:prstGeom>
          <a:ln w="25400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65392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③ Lean 重算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checkDefenseCertificateAt
逐节点重算局面/轮次/终局/应手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71432" y="2258568"/>
            <a:ext cx="393192" cy="0"/>
          </a:xfrm>
          <a:prstGeom prst="line">
            <a:avLst/>
          </a:prstGeom>
          <a:ln w="25400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64624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④ 组合出定理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两张证书 + soundness
⇒ StandardDraw 局面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2900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微软雅黑"/>
                <a:ea typeface="微软雅黑"/>
              </a:rPr>
              <a:t>每个局面独立验证 4 项断言 (全部 native_decide, 不依赖 C++ 结果):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233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白防黑证书 checkDefenseCertificateAt = 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0233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805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黑防白证书 checkDefenseCertificateAt = 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4805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377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9377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局面形状: 21黑 + 21白 + 7空 + 轮到黑方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9377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949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949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60 个长度 5 窗口全部双色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3949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8521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8521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StandardDraw &lt;position&gt; 由两张证书组合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58521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943600"/>
            <a:ext cx="11055096" cy="457200"/>
          </a:xfrm>
          <a:prstGeom prst="roundRect">
            <a:avLst>
              <a:gd name="adj" fmla="val 20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C98A2D"/>
                </a:solidFill>
                <a:latin typeface="微软雅黑"/>
                <a:ea typeface="微软雅黑"/>
              </a:rPr>
              <a:t>搜索器可以犯错, 检查器不放错; 通过检查的证书才是定理。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1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Draw7x7.lean · seed 1</a:t>
            </a:r>
          </a:p>
        </p:txBody>
      </p:sp>
      <p:pic>
        <p:nvPicPr>
          <p:cNvPr id="6" name="Picture 5" descr="Draw7x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2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Draw7x7s2.lean · seed 2</a:t>
            </a:r>
          </a:p>
        </p:txBody>
      </p:sp>
      <p:pic>
        <p:nvPicPr>
          <p:cNvPr id="6" name="Picture 5" descr="Draw7x7s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3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Draw7x7s3.lean · seed 3</a:t>
            </a:r>
          </a:p>
        </p:txBody>
      </p:sp>
      <p:pic>
        <p:nvPicPr>
          <p:cNvPr id="6" name="Picture 5" descr="Draw7x7s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4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Draw7x7s4.lean · seed 4</a:t>
            </a:r>
          </a:p>
        </p:txBody>
      </p:sp>
      <p:pic>
        <p:nvPicPr>
          <p:cNvPr id="6" name="Picture 5" descr="Draw7x7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5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Draw7x7s5.lean · seed 5</a:t>
            </a:r>
          </a:p>
        </p:txBody>
      </p:sp>
      <p:pic>
        <p:nvPicPr>
          <p:cNvPr id="6" name="Picture 5" descr="Draw7x7s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6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Draw7x7s6.lean · seed 6</a:t>
            </a:r>
          </a:p>
        </p:txBody>
      </p:sp>
      <p:pic>
        <p:nvPicPr>
          <p:cNvPr id="6" name="Picture 5" descr="Draw7x7s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7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Draw7x7s7.lean · seed 7</a:t>
            </a:r>
          </a:p>
        </p:txBody>
      </p:sp>
      <p:pic>
        <p:nvPicPr>
          <p:cNvPr id="6" name="Picture 5" descr="Draw7x7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8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Draw7x7s8.lean · seed 8</a:t>
            </a:r>
          </a:p>
        </p:txBody>
      </p:sp>
      <p:pic>
        <p:nvPicPr>
          <p:cNvPr id="6" name="Picture 5" descr="Draw7x7s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和棋局面 9 /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Draw7x7s9.lean · seed 9</a:t>
            </a:r>
          </a:p>
        </p:txBody>
      </p:sp>
      <p:pic>
        <p:nvPicPr>
          <p:cNvPr id="6" name="Picture 5" descr="Draw7x7s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4253948" cy="4892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897880" y="1371600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481328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局面构成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81051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21 黑 + 21 白 · 7 空格 · 轮到黑方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2404872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14600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结构性保证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843784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每个长度 5 窗口同时含黑白两子
任何一方都无法成五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97880" y="3438144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3547872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白防黑证书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3877056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WhiteCanPreventBlackWin  √ 检查器通过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97880" y="4471416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581144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黑防白证书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4910327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BlackCanPreventWhiteWin  √ 检查器通过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97880" y="5504688"/>
            <a:ext cx="5577840" cy="932688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5614416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3B5998"/>
                </a:solidFill>
                <a:latin typeface="微软雅黑"/>
                <a:ea typeface="微软雅黑"/>
              </a:rPr>
              <a:t>和棋定理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594360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StandardDraw &lt;root&gt;  √ 组合成立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全部 9 个局面: 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2267712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22677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Lean 定理文件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192024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种子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164592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37160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白防证书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173736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黑防证书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182880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7160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StandardDraw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371600"/>
            <a:ext cx="146304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37160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窗口双色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965960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965960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Draw7x7.lean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965960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1965960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965960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965960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65960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965960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96596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1965960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96596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441448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2441448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Draw7x7s2.lean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441448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441448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441448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441448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441448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441448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244144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44144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2441448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2441448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2916936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916936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Draw7x7s3.lean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2916936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2916936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916936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916936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916936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2916936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2916936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291693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2916936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6960" y="2916936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3392424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3392424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Draw7x7s4.lean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3392424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3392424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3392424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339242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392424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3392424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3392424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3392424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66960" y="3392424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66960" y="3392424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3867912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3867912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Draw7x7s5.lean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3867912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34640" y="3867912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54880" y="3867912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3867912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3867912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0" y="386791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38160" y="3867912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3867912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66960" y="3867912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3867912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4343400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4343400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Draw7x7s6.lean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34640" y="434340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0" y="4343400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80" y="4343400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0" y="4343400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0" y="4343400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0" y="4343400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38160" y="4343400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38160" y="434340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66960" y="4343400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66960" y="434340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4818888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4818888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Draw7x7s7.lean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34640" y="4818888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34640" y="4818888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754880" y="4818888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0" y="4818888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0" y="4818888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0" y="4818888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4818888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38160" y="481888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966960" y="4818888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66960" y="4818888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5294375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6928" y="5294375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Draw7x7s8.lean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34640" y="5294375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34640" y="5294375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54880" y="5294375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54880" y="5294375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00800" y="5294375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00800" y="5294375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38160" y="5294375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38160" y="5294375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66960" y="5294375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966960" y="5294375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6928" y="5769863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5769863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Draw7x7s9.lean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834640" y="5769863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834640" y="5769863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54880" y="5769863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54880" y="5769863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0800" y="5769863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00800" y="5769863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38160" y="5769863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38160" y="5769863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66960" y="5769863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966960" y="5769863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5806440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E7D4F"/>
                </a:solidFill>
                <a:latin typeface="微软雅黑"/>
                <a:ea typeface="微软雅黑"/>
              </a:rPr>
              <a:t>9 / 9 全部通过: 每张证书经 Lean 检查器重算, 每个局面都证明了 StandardDraw。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不足 ①：功能缺口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Not Done Well ·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051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空棋盘开局求解 · 未完成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688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没有从 7×7 空棋盘开始的必胜/和棋证书，不能宣称 initial_black_wins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554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55448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81051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空棋盘和棋 · 未完成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4688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中盘 9 局面的和棋已验证；空棋盘 StandardDraw 仍是开放目标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033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70332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5935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缓存 · 未接入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SearchMemo / EngineMemo 已定义，但还没有接入引擎默认搜索流程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7033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370332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95935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性能 · 未验证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目前只有一步胜、双应手、开四 VCF 与中盘和棋等示例，规模没有跑起来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80644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B3402F"/>
                </a:solidFill>
                <a:latin typeface="微软雅黑"/>
                <a:ea typeface="微软雅黑"/>
              </a:rPr>
              <a:t>这些缺口意味着：项目目前给不出“空棋盘黑棋先手必胜”或“空棋盘和棋”的结论。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不足 ②：工程与验证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Not Done Well ·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051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参数没有系统调优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688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maxDepth / maxVcfDepth / maxNodes 用的是保守默认值，没做过参数扫描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554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55448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81051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缺少基准数据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4688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证书大小、Lean 检查耗时、缓存命中率都没有系统记录和对比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033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70332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5935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导出→复检链路粗糙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C++ 导出 Lean 源码后要手工跑检查，自动化程度不高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7033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370332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95935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投入偏重正确性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时间主要花在规则与检查器上，搜索规模与性能投入不足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80644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B3402F"/>
                </a:solidFill>
                <a:latin typeface="微软雅黑"/>
                <a:ea typeface="微软雅黑"/>
              </a:rPr>
              <a:t>一句话：框架完整、正确性优先，但离完整 7×7 求解还有明显距离。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3063240"/>
            <a:ext cx="914400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2CE94"/>
                </a:solidFill>
                <a:latin typeface="微软雅黑"/>
                <a:ea typeface="微软雅黑"/>
              </a:rPr>
              <a:t>搜索器负责“找”，Lean 负责“证”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FD8E8"/>
                </a:solidFill>
                <a:latin typeface="微软雅黑"/>
                <a:ea typeface="微软雅黑"/>
              </a:rPr>
              <a:t>已做：规则 · 证书检查链 · 搜索器与示例复检 · 9 个中盘和棋局面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FD8E8"/>
                </a:solidFill>
                <a:latin typeface="微软雅黑"/>
                <a:ea typeface="微软雅黑"/>
              </a:rPr>
              <a:t>未做：空棋盘开局求解 · 空棋盘和棋 · 大规模验证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五子棋形式化项目阶段汇报</dc:title>
  <dc:subject/>
  <dc:creator>Gomoku Formalization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